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4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/>
              <a:t>Tỷ lệ doanh nghiệp Việt do nữ làm chủ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DN do nữ làm chủ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2015 (~21%)</c:v>
                </c:pt>
                <c:pt idx="1">
                  <c:v>2025 (~25%)</c:v>
                </c:pt>
                <c:pt idx="2">
                  <c:v>2030 (30%)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25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60-CC48-83A2-05A657C15E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US" sz="1100"/>
              <a:t>Tỷ lệ hội viên tiếp tục đồng hành (82%)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Giữ chân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Tiếp tục đồng hành</c:v>
                </c:pt>
                <c:pt idx="1">
                  <c:v>Còn lại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44-AB4A-82B5-801B1FC56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900"/>
          </a:pPr>
          <a:endParaRPr lang="en-V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V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vi-VN" sz="1100"/>
              <a:t>Cơ cấu theo hạng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Hạng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Cơ Bản</c:v>
                </c:pt>
                <c:pt idx="1">
                  <c:v>Hội Tụ</c:v>
                </c:pt>
                <c:pt idx="2">
                  <c:v>Tỏa Sáng</c:v>
                </c:pt>
                <c:pt idx="3">
                  <c:v>Lan Tỏa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28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CE-D24C-B095-159C87BB9D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900"/>
          </a:pPr>
          <a:endParaRPr lang="en-V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/>
              <a:t>Mức gắn kết theo hạng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Gắn kết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Cơ Bản</c:v>
                </c:pt>
                <c:pt idx="1">
                  <c:v>Hội Tụ</c:v>
                </c:pt>
                <c:pt idx="2">
                  <c:v>Tỏa Sáng</c:v>
                </c:pt>
                <c:pt idx="3">
                  <c:v>Lan Tỏa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70</c:v>
                </c:pt>
                <c:pt idx="2">
                  <c:v>86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32-6148-889C-446EC4154E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vi-VN" sz="1100"/>
              <a:t>Tăng trưởng hội viên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Hội viên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T3</c:v>
                </c:pt>
                <c:pt idx="2">
                  <c:v>T6</c:v>
                </c:pt>
                <c:pt idx="3">
                  <c:v>T9</c:v>
                </c:pt>
                <c:pt idx="4">
                  <c:v>T12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470</c:v>
                </c:pt>
                <c:pt idx="1">
                  <c:v>484</c:v>
                </c:pt>
                <c:pt idx="2">
                  <c:v>492</c:v>
                </c:pt>
                <c:pt idx="3">
                  <c:v>503</c:v>
                </c:pt>
                <c:pt idx="4">
                  <c:v>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FD-6743-9D48-40483AF22F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vi-VN" sz="1100"/>
              <a:t>Tăng trưởng &amp; Giữ chân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Hội viên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T3</c:v>
                </c:pt>
                <c:pt idx="2">
                  <c:v>T6</c:v>
                </c:pt>
                <c:pt idx="3">
                  <c:v>T9</c:v>
                </c:pt>
                <c:pt idx="4">
                  <c:v>T12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470</c:v>
                </c:pt>
                <c:pt idx="1">
                  <c:v>484</c:v>
                </c:pt>
                <c:pt idx="2">
                  <c:v>492</c:v>
                </c:pt>
                <c:pt idx="3">
                  <c:v>503</c:v>
                </c:pt>
                <c:pt idx="4">
                  <c:v>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96-3C4A-9874-53C1930903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Giữ chân %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T3</c:v>
                </c:pt>
                <c:pt idx="2">
                  <c:v>T6</c:v>
                </c:pt>
                <c:pt idx="3">
                  <c:v>T9</c:v>
                </c:pt>
                <c:pt idx="4">
                  <c:v>T12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72</c:v>
                </c:pt>
                <c:pt idx="1">
                  <c:v>74</c:v>
                </c:pt>
                <c:pt idx="2">
                  <c:v>76</c:v>
                </c:pt>
                <c:pt idx="3">
                  <c:v>79</c:v>
                </c:pt>
                <c:pt idx="4">
                  <c:v>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96-3C4A-9874-53C193090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V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/>
              <a:t>Doanh thu theo nguồn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Hội phí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40</c:v>
                </c:pt>
                <c:pt idx="2">
                  <c:v>46</c:v>
                </c:pt>
                <c:pt idx="3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56-9345-96C8-AE401C5A5F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Sự kiện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18</c:v>
                </c:pt>
                <c:pt idx="2">
                  <c:v>22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56-9345-96C8-AE401C5A5F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Tài trợ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356-9345-96C8-AE401C5A5F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V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vi-VN" sz="1100"/>
              <a:t>Cơ cấu theo hạng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Hạng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Cơ Bản</c:v>
                </c:pt>
                <c:pt idx="1">
                  <c:v>Hội Tụ</c:v>
                </c:pt>
                <c:pt idx="2">
                  <c:v>Tỏa Sáng</c:v>
                </c:pt>
                <c:pt idx="3">
                  <c:v>Lan Tỏa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28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34-0744-96B7-EDF44D522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900"/>
          </a:pPr>
          <a:endParaRPr lang="en-V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V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dirty="0">
                <a:solidFill>
                  <a:srgbClr val="9EC7E8"/>
                </a:solidFill>
                <a:latin typeface="Calibri"/>
              </a:rPr>
              <a:t>ĐỀ XUẤT CHIẾN LƯỢC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600" b="1" dirty="0">
                <a:solidFill>
                  <a:srgbClr val="FFFFFF"/>
                </a:solidFill>
                <a:latin typeface="Calibri"/>
              </a:rPr>
              <a:t>HAWEE: </a:t>
            </a:r>
            <a:r>
              <a:rPr sz="4600" b="1" dirty="0" err="1">
                <a:solidFill>
                  <a:srgbClr val="FFFFFF"/>
                </a:solidFill>
                <a:latin typeface="Calibri"/>
              </a:rPr>
              <a:t>Từ</a:t>
            </a:r>
            <a:r>
              <a:rPr sz="4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600" b="1" dirty="0" err="1">
                <a:solidFill>
                  <a:srgbClr val="FFFFFF"/>
                </a:solidFill>
                <a:latin typeface="Calibri"/>
              </a:rPr>
              <a:t>Mạng</a:t>
            </a:r>
            <a:r>
              <a:rPr sz="4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600" b="1" dirty="0" err="1">
                <a:solidFill>
                  <a:srgbClr val="FFFFFF"/>
                </a:solidFill>
                <a:latin typeface="Calibri"/>
              </a:rPr>
              <a:t>lưới</a:t>
            </a:r>
            <a:endParaRPr sz="4600" b="1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600" b="1" dirty="0" err="1">
                <a:solidFill>
                  <a:srgbClr val="FFFFFF"/>
                </a:solidFill>
                <a:latin typeface="Calibri"/>
              </a:rPr>
              <a:t>đến</a:t>
            </a:r>
            <a:r>
              <a:rPr sz="4600" b="1" dirty="0">
                <a:solidFill>
                  <a:srgbClr val="FFFFFF"/>
                </a:solidFill>
                <a:latin typeface="Calibri"/>
              </a:rPr>
              <a:t> Nền </a:t>
            </a:r>
            <a:r>
              <a:rPr sz="4600" b="1" dirty="0" err="1">
                <a:solidFill>
                  <a:srgbClr val="FFFFFF"/>
                </a:solidFill>
                <a:latin typeface="Calibri"/>
              </a:rPr>
              <a:t>tảng</a:t>
            </a:r>
            <a:endParaRPr sz="4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>
                <a:solidFill>
                  <a:srgbClr val="CFDDED"/>
                </a:solidFill>
                <a:latin typeface="Calibri"/>
              </a:rPr>
              <a:t>Một nền tảng số xây riêng cho HAWEE, hiện thực hóa tinh thần “Hội tụ, Kết nối, Vươn tầm”.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577840"/>
            <a:ext cx="10515600" cy="12700"/>
          </a:xfrm>
          <a:prstGeom prst="roundRect">
            <a:avLst/>
          </a:prstGeom>
          <a:solidFill>
            <a:srgbClr val="395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FB6CE"/>
                </a:solidFill>
                <a:latin typeface="Calibri"/>
              </a:rPr>
              <a:t>HAWEE      Bản trình bày giải pháp  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BỐI CẢNH NHIỆM KỲ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HAWEE đang ở</a:t>
            </a:r>
            <a:r>
              <a:rPr sz="3000" b="1">
                <a:solidFill>
                  <a:srgbClr val="1C6FB8"/>
                </a:solidFill>
                <a:latin typeface="Calibri"/>
              </a:rPr>
              <a:t> thời điểm vàng để bứt phá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245356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0F2747"/>
                </a:solidFill>
                <a:latin typeface="Calibri"/>
              </a:rPr>
              <a:t>500+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245356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hội viên nữ lãnh đạo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9403" y="1737360"/>
            <a:ext cx="245356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C6FB8"/>
                </a:solidFill>
                <a:latin typeface="Calibri"/>
              </a:rPr>
              <a:t>4 hạng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9403" y="2606040"/>
            <a:ext cx="245356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Cơ Bản đến Lan Tỏa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6" y="1737360"/>
            <a:ext cx="245356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0F2747"/>
                </a:solidFill>
                <a:latin typeface="Calibri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6" y="2606040"/>
            <a:ext cx="245356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thành viên Ban Chấp hành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049" y="1737360"/>
            <a:ext cx="245356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B7892F"/>
                </a:solidFill>
                <a:latin typeface="Calibri"/>
              </a:rPr>
              <a:t>10 năm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049" y="2606040"/>
            <a:ext cx="245356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hành trình 2015 đến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10881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Định hướng mới: thúc đẩy giao thương, mở rộng thị trường, kết nối đối tác cho hội viên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Mở rộng HAWEE Mentoring theo chiều sâu ngành nghề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Tầm nhìn đã rõ. Việc còn lại là chọn công cụ vận hành xứng tầm với 500+ hội viên.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Nguồn: hawee.vn; Đại hội nhiệm kỳ III (theleader.vn, phunuvietnam.vn) 03/2025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CƠ HỘI THỊ TRƯỜNG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HAWEE đứng trên một</a:t>
            </a:r>
            <a:r>
              <a:rPr sz="3000" b="1">
                <a:solidFill>
                  <a:srgbClr val="1C6FB8"/>
                </a:solidFill>
                <a:latin typeface="Calibri"/>
              </a:rPr>
              <a:t> làn sóng đang lên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73736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920240"/>
            <a:ext cx="54864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1C6FB8"/>
                </a:solidFill>
              </a:rPr>
              <a:t>▪  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~25%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doanh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nghiệp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Việt do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nữ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làm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chủ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hướng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30%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vào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2030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1C6FB8"/>
                </a:solidFill>
              </a:rPr>
              <a:t>▪  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97%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doanh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nghiệp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do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nữ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làm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chủ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còn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nhỏ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rất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cần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kết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nối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và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cố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vấn</a:t>
            </a:r>
            <a:endParaRPr sz="1500" b="0" dirty="0">
              <a:solidFill>
                <a:srgbClr val="15273D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 dirty="0">
                <a:solidFill>
                  <a:srgbClr val="1C6FB8"/>
                </a:solidFill>
              </a:rPr>
              <a:t>▪  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Mạng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lưới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nữ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doanh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nhân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Việt Nam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thuộc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nhóm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hiệu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quả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5273D"/>
                </a:solidFill>
                <a:latin typeface="Calibri"/>
              </a:rPr>
              <a:t>nhất</a:t>
            </a:r>
            <a:r>
              <a:rPr sz="1500" b="0" dirty="0">
                <a:solidFill>
                  <a:srgbClr val="15273D"/>
                </a:solidFill>
                <a:latin typeface="Calibri"/>
              </a:rPr>
              <a:t> ASEAN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91948" y="4482662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20548" y="4646574"/>
            <a:ext cx="5486400" cy="4951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dirty="0">
                <a:solidFill>
                  <a:srgbClr val="0F2747"/>
                </a:solidFill>
                <a:latin typeface="Calibri"/>
              </a:rPr>
              <a:t>HAWEE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có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vị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thế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dẫn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dắt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. Nền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tảng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số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biến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mạng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lưới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thành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giá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trị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nhìn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thấy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được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Nguồn: VCCI, WISE Vietnam, VietnamPlus (2025). Cột 2015 mang tính minh họa xu hướng.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ĐỊNH HƯỚNG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Một nền tảng</a:t>
            </a:r>
            <a:r>
              <a:rPr sz="3000" b="1">
                <a:solidFill>
                  <a:srgbClr val="1C6FB8"/>
                </a:solidFill>
                <a:latin typeface="Calibri"/>
              </a:rPr>
              <a:t> xây riêng cho HAWEE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484778" cy="237744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31190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CỦA HAWEE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95728"/>
            <a:ext cx="31190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Sở hữu trọn vẹn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80360"/>
            <a:ext cx="311901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Dữ liệu và sản phẩm thuộc về Hội, không phụ thuộc bên thứ ba.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920240"/>
            <a:ext cx="3484778" cy="237744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4626" y="2103120"/>
            <a:ext cx="31190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ĐÚNG BẢN SẮC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4626" y="2395728"/>
            <a:ext cx="31190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May đo theo Hội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4626" y="2880360"/>
            <a:ext cx="311901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Thiết kế đúng 4 hạng, chương trình Mentoring và định hướng giao thương.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920240"/>
            <a:ext cx="3484778" cy="237744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8004" y="2103120"/>
            <a:ext cx="31190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SÁT NGƯỜI VIỆT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8004" y="2395728"/>
            <a:ext cx="31190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Gắn liền Zalo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880360"/>
            <a:ext cx="311901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Nhắc nhở, chăm sóc qua Zalo; thanh toán nội địa quen thuộc.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Đây không phải phần mềm thuê sẵn. Đây là tài sản số riêng của HAWEE, lớn lên cùng Hội qua từng nhiệm kỳ.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9EC7E8"/>
                </a:solidFill>
                <a:latin typeface="Calibri"/>
              </a:rPr>
              <a:t>PHẦN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Điểm nghẽn và cơ hội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CFDDED"/>
                </a:solidFill>
                <a:latin typeface="Calibri"/>
              </a:rPr>
              <a:t>Nhìn thẳng vào nút thắt hôm nay, để thấy rõ dư địa tăng trưởng ngày mai.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BẢN ĐỒ ĐIỂM NGHẼN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Không chỉ 7, mà là</a:t>
            </a:r>
            <a:r>
              <a:rPr sz="3000" b="1">
                <a:solidFill>
                  <a:srgbClr val="1C6FB8"/>
                </a:solidFill>
                <a:latin typeface="Calibri"/>
              </a:rPr>
              <a:t> 7 cốt lõi và 3 mở rộng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0584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7 điểm nghẽn cốt lõi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3 điểm nghẽn mở rộng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01 Dữ liệu phân 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08 Hội viên mới ít gắn kết 90 ngày đầu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02 Gia hạn thủ công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09 Chưa ghi nhận hội viên năng động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03 Tương tác theo nhịp sự kiện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10 Chi hội &amp; truyền thông phân 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04 Chưa đo được giá trị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05 Giao thương rời rạc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06 Mentoring thủ công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07 Hồ sơ hội viên sơ sài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Điểm nghẽn 08 đến 10 bổ sung từ nghiên cứu thị trường và đặc thù cơ cấu HAWEE.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DƯ ĐỊA ĐANG CHỜ KHAI MỞ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Mỗi hội viên ở lại là</a:t>
            </a:r>
            <a:r>
              <a:rPr sz="3000" b="1">
                <a:solidFill>
                  <a:srgbClr val="1C6FB8"/>
                </a:solidFill>
                <a:latin typeface="Calibri"/>
              </a:rPr>
              <a:t> một giá trị nhân lên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216554" cy="164592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929384"/>
            <a:ext cx="28873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HÔM NAY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40280"/>
            <a:ext cx="288737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500 hội viên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07208"/>
            <a:ext cx="288737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Cơ sở hội viên hiện tại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6362" y="1783080"/>
            <a:ext cx="41148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7570" y="1783080"/>
            <a:ext cx="3216554" cy="164592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2162" y="1929384"/>
            <a:ext cx="28873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KHI CÓ NỀN TẢNG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2162" y="2240280"/>
            <a:ext cx="288737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Giữ chân vững hơn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162" y="2807208"/>
            <a:ext cx="288737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Nhắc &amp; chăm sóc tự động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3852" y="1783080"/>
            <a:ext cx="41148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5060" y="1783080"/>
            <a:ext cx="3216554" cy="1645920"/>
          </a:xfrm>
          <a:prstGeom prst="roundRect">
            <a:avLst/>
          </a:prstGeom>
          <a:solidFill>
            <a:srgbClr val="EEF6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99652" y="1929384"/>
            <a:ext cx="28873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KẾT QUẢ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9652" y="2240280"/>
            <a:ext cx="288737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Mạng lưới mạnh thêm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9652" y="2807208"/>
            <a:ext cx="288737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Giá trị giao thương lớn dần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49039"/>
            <a:ext cx="339333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F9D6B"/>
                </a:solidFill>
                <a:latin typeface="Calibri"/>
              </a:rPr>
              <a:t>+12 điểm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19"/>
            <a:ext cx="33933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tỷ lệ hội viên tiếp tục đồng hành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9178" y="3749039"/>
            <a:ext cx="339333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0F2747"/>
                </a:solidFill>
                <a:latin typeface="Calibri"/>
              </a:rPr>
              <a:t>+1,2 tỷ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9178" y="4617719"/>
            <a:ext cx="33933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VND/năm hội phí giữ lại (minh họa)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8276" y="3749039"/>
            <a:ext cx="339333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C6FB8"/>
                </a:solidFill>
                <a:latin typeface="Calibri"/>
              </a:rPr>
              <a:t>Bền vững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8276" y="4617719"/>
            <a:ext cx="33933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mạng lưới &amp; uy tín tích lũy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hình minh họa: giả định 500 hội viên, hội phí 20 triệu/người. Thay số thực khi khảo sát.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VỮNG TÂM KHI QUYẾT ĐỊNH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Mô hình đã được</a:t>
            </a:r>
            <a:r>
              <a:rPr sz="3000" b="1">
                <a:solidFill>
                  <a:srgbClr val="1C6FB8"/>
                </a:solidFill>
                <a:latin typeface="Calibri"/>
              </a:rPr>
              <a:t> kiểm chứng ngay tại Việt Nam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737360"/>
          <a:ext cx="4206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12080" y="1920240"/>
            <a:ext cx="6309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Trung bình tổ chức có nền tảng đạt ~82%, so với khoảng 55% khi làm thủ công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EuroCham Việt Nam (~1.400 hội viên) đã vận hành trên nền tảng quản lý hội viên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Hàng nghìn hội &amp; hiệp hội trên thế giới dùng mô hình tương tự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93776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93776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Mô hình đã được chứng minh. HAWEE chỉ cần một bản may đo theo bản sắc của mình.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Nguồn: tham chiếu nền tảng quản lý hội viên (Glue Up); EuroCham VN. Mức 55% minh họa.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GIẢI PHÁP TỔNG QUAN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Một nền tảng,</a:t>
            </a:r>
            <a:r>
              <a:rPr sz="3000" b="1">
                <a:solidFill>
                  <a:srgbClr val="1C6FB8"/>
                </a:solidFill>
                <a:latin typeface="Calibri"/>
              </a:rPr>
              <a:t> ba lớp giá trị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84778" cy="27432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31190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LỚP 1 · NỀN MÓNG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04288"/>
            <a:ext cx="31190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Dữ liệu &amp; Hội viên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311901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Kho dữ liệu tập trung · Hồ sơ 360° · 4 hạng &amp; gia hạn tự động · Nhắc qua Zalo &amp; 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828800"/>
            <a:ext cx="3484778" cy="27432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4626" y="2011680"/>
            <a:ext cx="31190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LỚP 2 · GIÁ TRỊ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4626" y="2304288"/>
            <a:ext cx="31190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Gắn kết &amp; Giao thương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4626" y="2788920"/>
            <a:ext cx="311901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Sự kiện, vé &amp; quét QR · Sàn giao thương · Mentoring · Tích điểm &amp; vinh danh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828800"/>
            <a:ext cx="3484778" cy="27432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8004" y="2011680"/>
            <a:ext cx="31190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LỚP 3 · VƯƠN TẦM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8004" y="2304288"/>
            <a:ext cx="31190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Thông minh &amp; Mở rộng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788920"/>
            <a:ext cx="311901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Bảng điều hành sức khỏe · Chăm sóc sớm · Trợ lý ảo · Hiệu quả tài trợ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Một nơi duy nhất cho hội viên, Ban Chấp hành và đối tác.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BẢN ĐỒ ĐIỂM NGHẼN ĐẾN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Mỗi nút thắt,</a:t>
            </a:r>
            <a:r>
              <a:rPr sz="3000" b="1">
                <a:solidFill>
                  <a:srgbClr val="1C6FB8"/>
                </a:solidFill>
                <a:latin typeface="Calibri"/>
              </a:rPr>
              <a:t> một lời giải rõ ràng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061366"/>
              </p:ext>
            </p:extLst>
          </p:nvPr>
        </p:nvGraphicFramePr>
        <p:xfrm>
          <a:off x="640080" y="1691640"/>
          <a:ext cx="10911535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7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7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Điểm nghẽn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Giải pháp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Kết quả nhìn thấy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Dữ liệu phân 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Kho dữ liệu tập trung &amp; Hồ sơ 360°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Một nguồn duy nhất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Gia hạn thủ công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Quản lý hạng &amp; gia hạn tự động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Giữ chân vững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Tương tác theo nhịp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Sự kiện, quét QR &amp; bảng tin cộng đồng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Gắn kết liên tục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Chưa đo được giá trị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Bảng điều hành sức khỏe Hội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Quyết định bằng số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Giao thương rời rạc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Sàn kết nối giao thương nội bộ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Cơ hội kinh doanh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Mentoring thủ công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Quản lý ghép cặp &amp; hành trình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Mở rộng quy mô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Hồ sơ sơ sài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Hồ sơ &amp; thẻ hội viên số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Danh thiếp số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90 ngày đầu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Hành trình chào đón tự động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Gắn bó sớm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Chưa ghi nhận năng động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Tích điểm &amp; bảng vinh danh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Khích lệ tham gia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Chi hội &amp; truyền thông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Quản lý chi hội &amp; hub nội dung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15273D"/>
                          </a:solidFill>
                          <a:latin typeface="Calibri"/>
                        </a:rPr>
                        <a:t>Gắn </a:t>
                      </a:r>
                      <a:r>
                        <a:rPr sz="1050" b="0" dirty="0" err="1">
                          <a:solidFill>
                            <a:srgbClr val="15273D"/>
                          </a:solidFill>
                          <a:latin typeface="Calibri"/>
                        </a:rPr>
                        <a:t>kết</a:t>
                      </a:r>
                      <a:r>
                        <a:rPr sz="1050" b="0" dirty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5273D"/>
                          </a:solidFill>
                          <a:latin typeface="Calibri"/>
                        </a:rPr>
                        <a:t>toàn</a:t>
                      </a:r>
                      <a:r>
                        <a:rPr sz="1050" b="0" dirty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5273D"/>
                          </a:solidFill>
                          <a:latin typeface="Calibri"/>
                        </a:rPr>
                        <a:t>Hội</a:t>
                      </a:r>
                      <a:endParaRPr sz="1050" b="0" dirty="0">
                        <a:solidFill>
                          <a:srgbClr val="15273D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9EC7E8"/>
                </a:solidFill>
                <a:latin typeface="Calibri"/>
              </a:rPr>
              <a:t>PHẦN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Đi sâu từng 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CFDDED"/>
                </a:solidFill>
                <a:latin typeface="Calibri"/>
              </a:rPr>
              <a:t>Mỗi điểm nghẽn: hiện trạng, cách giải, mô phỏng giao diện thật, kết quả.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C98A2E"/>
                </a:solidFill>
                <a:latin typeface="Calibri"/>
              </a:rPr>
              <a:t>ĐIỂM NGHẼN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Dữ liệu hội viên</a:t>
            </a:r>
            <a:r>
              <a:rPr sz="3000" b="1">
                <a:solidFill>
                  <a:srgbClr val="C98A2E"/>
                </a:solidFill>
                <a:latin typeface="Calibri"/>
              </a:rPr>
              <a:t> đang nằm rải rác nhiều nơi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4747107" cy="3200400"/>
          </a:xfrm>
          <a:prstGeom prst="roundRect">
            <a:avLst/>
          </a:prstGeom>
          <a:solidFill>
            <a:srgbClr val="FBF6EE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2899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C98A2E"/>
                </a:solidFill>
                <a:latin typeface="Calibri"/>
              </a:rPr>
              <a:t>HIỆN TẠI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50008"/>
            <a:ext cx="4289907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Danh sách ở nhiều file Excel khác nhau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Lịch sử tương tác trôi trên mạng xã hội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Bàn giao nhiệm kỳ dễ thất lạc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Khó trả lời nhanh hội viên đã tham gia gì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0107" y="1783080"/>
            <a:ext cx="41148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04507" y="1783080"/>
            <a:ext cx="4747107" cy="320040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33107" y="1965960"/>
            <a:ext cx="42899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F9D6B"/>
                </a:solidFill>
                <a:latin typeface="Calibri"/>
              </a:rPr>
              <a:t>KHI CÓ NỀN TẢNG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3107" y="2350008"/>
            <a:ext cx="4289907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Một kho dữ liệu hội viên duy nhất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Mọi hoạt động được ghi lại tự động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Bàn giao nhiệm kỳ trọn vẹn dữ liệu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Tra cứu hồ sơ 360° trong vài giây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GIẢI PHÁP 01 · MÔ PHỎNG GIAO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Hồ sơ hội viên</a:t>
            </a:r>
            <a:r>
              <a:rPr sz="3000" b="1">
                <a:solidFill>
                  <a:srgbClr val="1C6FB8"/>
                </a:solidFill>
                <a:latin typeface="Calibri"/>
              </a:rPr>
              <a:t> 360°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Nguyễn Thị An  ·  CEO An Phát  ·  Hạng Tỏa Sáng  ·  Hội viên năng động  ·  2.480 điểm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103120"/>
          <a:ext cx="100584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Widget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Nội dung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Mức độ gắn kết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88 / 100 (biểu đồ tròn)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Hoạt động 6 tháng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Biểu đồ cột theo tháng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Hạn gia hạn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02/2027, còn hiệu lực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Sự kiện đã dự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12 (năm nay 5)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Kết nối giao thương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8, đang trao đổi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Vai trò Mentoring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Mentor, đang dẫn 3 mentee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Dòng thời gian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Diễn giả, gia hạn, ghép mentee...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Quyền lợi theo hạng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Vé ưu tiên, 8 ưu đãi, gian hàng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kiểu hồ sơ khách hàng (CRM) với hơn 6 widget gồm biểu đồ.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C98A2E"/>
                </a:solidFill>
                <a:latin typeface="Calibri"/>
              </a:rPr>
              <a:t>ĐIỂM NGHẼN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Gia hạn thủ công khiến</a:t>
            </a:r>
            <a:r>
              <a:rPr sz="3000" b="1">
                <a:solidFill>
                  <a:srgbClr val="C98A2E"/>
                </a:solidFill>
                <a:latin typeface="Calibri"/>
              </a:rPr>
              <a:t> hội viên dễ rời tổ chức vì lãng quên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Văn phòng Hội rà Excel, nhắn từng người khi tới hạn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Hội viên bận, lỡ nhắc rồi vô tình rời tổ chức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Chưa có cảnh báo sớm ai sắp hết hạn, ai cần quan tâm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Mỗi nhiệm kỳ lặp lại bài toán cũ, không tích lũy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49039"/>
            <a:ext cx="3216554" cy="15544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3895343"/>
            <a:ext cx="28873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TRƯỚC 30 NGÀY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206239"/>
            <a:ext cx="288737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Phát hiện sắp hết hạn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773167"/>
            <a:ext cx="288737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Hệ thống tự rà soát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6362" y="3749039"/>
            <a:ext cx="411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7570" y="3749039"/>
            <a:ext cx="3216554" cy="155448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2162" y="3895343"/>
            <a:ext cx="28873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TRƯỚC 30/7/1 NGÀY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162" y="4206239"/>
            <a:ext cx="288737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Tự nhắc Zalo &amp;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2162" y="4773167"/>
            <a:ext cx="288737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Gia hạn 1 chạm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3852" y="3749039"/>
            <a:ext cx="411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5060" y="3749039"/>
            <a:ext cx="3216554" cy="155448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99652" y="3895343"/>
            <a:ext cx="28873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CẦN QUAN TÂM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9652" y="4206239"/>
            <a:ext cx="288737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Báo Ban Chấp hành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9652" y="4773167"/>
            <a:ext cx="288737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Chăm sóc tận tình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53212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53212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dirty="0" err="1">
                <a:solidFill>
                  <a:srgbClr val="0F2747"/>
                </a:solidFill>
                <a:latin typeface="Calibri"/>
              </a:rPr>
              <a:t>Phần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lớn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việc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rời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tổ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chức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chỉ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vì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quên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gia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hạn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. Điều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này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hoàn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toàn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ngăn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2747"/>
                </a:solidFill>
                <a:latin typeface="Calibri"/>
              </a:rPr>
              <a:t>được</a:t>
            </a:r>
            <a:r>
              <a:rPr sz="1500" b="1" dirty="0">
                <a:solidFill>
                  <a:srgbClr val="0F274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GIẢI PHÁP 02 · MÔ PHỎNG GIAO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Gia hạn tự động</a:t>
            </a:r>
            <a:r>
              <a:rPr sz="3000" b="1">
                <a:solidFill>
                  <a:srgbClr val="1C6FB8"/>
                </a:solidFill>
                <a:latin typeface="Calibri"/>
              </a:rPr>
              <a:t> và lời nhắc ấm áp qua Zalo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4864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Bảng theo dõi gia hạn: sắp đến hạn, đã tự gia hạn, cần quan tâm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Biểu đồ tỷ lệ tiếp tục đồng hành theo tháng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65% hội viên tự gia hạn online, không cần nhắc tay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37360"/>
            <a:ext cx="5120640" cy="4023360"/>
          </a:xfrm>
          <a:prstGeom prst="roundRect">
            <a:avLst/>
          </a:prstGeom>
          <a:solidFill>
            <a:srgbClr val="DFE7E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120640" cy="502920"/>
          </a:xfrm>
          <a:prstGeom prst="round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80136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HAWEE · Zalo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423160"/>
            <a:ext cx="46634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F2747"/>
                </a:solidFill>
                <a:latin typeface="Calibri"/>
              </a:rPr>
              <a:t>HAWEE thân gửi chị Mai Phương 💐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15273D"/>
                </a:solidFill>
                <a:latin typeface="Calibri"/>
              </a:rPr>
              <a:t>Quyền lợi hội viên hạng Tỏa Sáng của chị sẽ làm mới vào 25/06/2026.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600" b="0">
                <a:solidFill>
                  <a:srgbClr val="15273D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15273D"/>
                </a:solidFill>
                <a:latin typeface="Calibri"/>
              </a:rPr>
              <a:t>Tiếp tục đồng hành chỉ với 1 phút, giữ trọn quyền lợi &amp; ưu đãi đối tác.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[ Gia hạn ngay ›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giao diện vận hành &amp; tin nhắn Zalo tự động.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KẾT QUẢ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Giữ chân vững hơn</a:t>
            </a:r>
            <a:r>
              <a:rPr sz="3000" b="1">
                <a:solidFill>
                  <a:srgbClr val="1C6FB8"/>
                </a:solidFill>
                <a:latin typeface="Calibri"/>
              </a:rPr>
              <a:t> là doanh thu &amp; mạng lưới nhân lên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39333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F9D6B"/>
                </a:solidFill>
                <a:latin typeface="Calibri"/>
              </a:rPr>
              <a:t>+12 điểm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33933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tỷ lệ hội viên tiếp tục đồng hành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99178" y="2103120"/>
            <a:ext cx="339333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0F2747"/>
                </a:solidFill>
                <a:latin typeface="Calibri"/>
              </a:rPr>
              <a:t>+1,2 tỷ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9178" y="2971800"/>
            <a:ext cx="33933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VND/năm hội phí giữ lại (minh họa)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8276" y="2103120"/>
            <a:ext cx="339333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C6FB8"/>
                </a:solidFill>
                <a:latin typeface="Calibri"/>
              </a:rPr>
              <a:t>-80%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276" y="2971800"/>
            <a:ext cx="33933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thời gian Văn phòng Hội xử lý gia hạn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Khi không ai rời tổ chức chỉ vì lãng quên, mỗi nhiệm kỳ Hội khởi đầu trên nền tảng vững hơn.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hình minh họa. Thay giả định bằng số thực của HAWEE khi khảo sát.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C98A2E"/>
                </a:solidFill>
                <a:latin typeface="Calibri"/>
              </a:rPr>
              <a:t>ĐIỂM NGHẼN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Gắn kết chỉ</a:t>
            </a:r>
            <a:r>
              <a:rPr sz="3000" b="1">
                <a:solidFill>
                  <a:srgbClr val="C98A2E"/>
                </a:solidFill>
                <a:latin typeface="Calibri"/>
              </a:rPr>
              <a:t> rộn ràng quanh sự kiện rồi lắng xuống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4747107" cy="3200400"/>
          </a:xfrm>
          <a:prstGeom prst="roundRect">
            <a:avLst/>
          </a:prstGeom>
          <a:solidFill>
            <a:srgbClr val="FBF6EE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2899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C98A2E"/>
                </a:solidFill>
                <a:latin typeface="Calibri"/>
              </a:rPr>
              <a:t>HIỆN TẠI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50008"/>
            <a:ext cx="4289907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Đăng ký qua form rời rạc hoặc nhắn tay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Điểm danh bằng giấy, không khớp dữ liệu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Sau sự kiện thiếu kết nối lại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Giữa hai kỳ, hội viên ít chạm tới Hội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0107" y="1783080"/>
            <a:ext cx="41148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04507" y="1783080"/>
            <a:ext cx="4747107" cy="320040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33107" y="1965960"/>
            <a:ext cx="42899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F9D6B"/>
                </a:solidFill>
                <a:latin typeface="Calibri"/>
              </a:rPr>
              <a:t>KHI CÓ NỀN TẢNG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3107" y="2350008"/>
            <a:ext cx="4289907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Tạo sự kiện, bán vé theo hạng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Quét QR điểm danh, gắn vào hồ sơ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Tự động cảm ơn &amp; khảo sát sau sự kiện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Bảng tin cộng đồng giữ kết nối liên tục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GIẢI PHÁP 03 · MÔ PHỎNG GIAO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Sự kiện, quét QR</a:t>
            </a:r>
            <a:r>
              <a:rPr sz="3000" b="1">
                <a:solidFill>
                  <a:srgbClr val="1C6FB8"/>
                </a:solidFill>
                <a:latin typeface="Calibri"/>
              </a:rPr>
              <a:t> và bảng tin cộng đồng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300" b="1">
                <a:solidFill>
                  <a:srgbClr val="0F2747"/>
                </a:solidFill>
                <a:latin typeface="Calibri"/>
              </a:rPr>
              <a:t>Trang sự kiện: </a:t>
            </a:r>
            <a:r>
              <a:rPr sz="1300" b="0">
                <a:solidFill>
                  <a:srgbClr val="15273D"/>
                </a:solidFill>
                <a:latin typeface="Calibri"/>
              </a:rPr>
              <a:t>142 đăng ký, 98 đã thanh toán vé, điểm danh QR; vé theo 4 hạng.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300" b="1">
                <a:solidFill>
                  <a:srgbClr val="0F2747"/>
                </a:solidFill>
                <a:latin typeface="Calibri"/>
              </a:rPr>
              <a:t>Bảng tin cộng đồng: </a:t>
            </a:r>
            <a:r>
              <a:rPr sz="1300" b="0">
                <a:solidFill>
                  <a:srgbClr val="15273D"/>
                </a:solidFill>
                <a:latin typeface="Calibri"/>
              </a:rPr>
              <a:t>gương mặt hội viên, nhu cầu giao thương, sự kiện sắp tới.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300" b="1">
                <a:solidFill>
                  <a:srgbClr val="0F2747"/>
                </a:solidFill>
                <a:latin typeface="Calibri"/>
              </a:rPr>
              <a:t>Giữ tương tác liên tục </a:t>
            </a:r>
            <a:r>
              <a:rPr sz="1300" b="0">
                <a:solidFill>
                  <a:srgbClr val="15273D"/>
                </a:solidFill>
                <a:latin typeface="Calibri"/>
              </a:rPr>
              <a:t>giữa các kỳ sự kiện, không để cộng đồng nguội.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Sự kiện không kết thúc khi tan tiệc, nó tiếp tục sống trong cộng đồng.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trang sự kiện &amp; bảng tin cộng đồng.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TRẢI NGHIỆM TẠI SỰ KIỆN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Quét QR</a:t>
            </a:r>
            <a:r>
              <a:rPr sz="3000" b="1">
                <a:solidFill>
                  <a:srgbClr val="1C6FB8"/>
                </a:solidFill>
                <a:latin typeface="Calibri"/>
              </a:rPr>
              <a:t> là vào ngay, không xếp hàng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2743200" cy="3291840"/>
          </a:xfrm>
          <a:prstGeom prst="round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80160" y="2286000"/>
            <a:ext cx="2011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C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9260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0F2747"/>
                </a:solidFill>
                <a:latin typeface="Calibri"/>
              </a:rPr>
              <a:t>[ QR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4572000"/>
            <a:ext cx="457200" cy="457200"/>
          </a:xfrm>
          <a:prstGeom prst="round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74519" y="46177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3152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Hội viên đưa QR trên điện thoại, điểm danh trong 2 giây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Tự động ghi vào hồ sơ 360° và cộng điểm hoạt động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Ban tổ chức thấy ai đã đến theo thời gian thực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Không sổ giấy, không nhầm lẫn danh sách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Minh họa khái niệm trải nghiệm quét QR điểm danh tại sự kiện.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C98A2E"/>
                </a:solidFill>
                <a:latin typeface="Calibri"/>
              </a:rPr>
              <a:t>ĐIỂM NGHẼN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Ban Chấp hành</a:t>
            </a:r>
            <a:r>
              <a:rPr sz="3000" b="1">
                <a:solidFill>
                  <a:srgbClr val="C98A2E"/>
                </a:solidFill>
                <a:latin typeface="Calibri"/>
              </a:rPr>
              <a:t> chưa có bức tranh số để nhìn toàn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Câu hỏi “hội viên nhận được gì từ hội phí” đang trả lời bằng cảm nhận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Khó biết sớm ai đang xa dần để chăm sóc kịp thời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Khó thuyết phục nhà tài trợ vì thiếu số liệu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Quyết định nhiệm kỳ dựa nhiều vào trực giác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Khi nhìn được bằng số, Ban Chấp hành chủ động dẫn dắt thay vì phản ứng theo sự việc.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GIẢI PHÁP 04 · MÔ PHỎNG GIAO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Bảng điều hành</a:t>
            </a:r>
            <a:r>
              <a:rPr sz="3000" b="1">
                <a:solidFill>
                  <a:srgbClr val="1C6FB8"/>
                </a:solidFill>
                <a:latin typeface="Calibri"/>
              </a:rPr>
              <a:t> Sức khỏe Hội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91640"/>
          <a:ext cx="35661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389120" y="1691640"/>
          <a:ext cx="35661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138160" y="1691640"/>
          <a:ext cx="3383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206240"/>
          <a:ext cx="10881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Hội viên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Tín hiệu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Gợi ý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Phạm Anh 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Chưa dự sự kiện 6 tháng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Mời cà phê kết nối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Vũ Hồng L.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Chưa mở 3 thông báo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Gọi hỏi thăm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họa: 9+ widget gồm biểu đồ tròn, cột, đường xu hướng, bảng chăm sóc sớm.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C98A2E"/>
                </a:solidFill>
                <a:latin typeface="Calibri"/>
              </a:rPr>
              <a:t>ĐIỂM NGHẼN 05 · TRỌNG TÂM NHIỆM KỲ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Giao thương</a:t>
            </a:r>
            <a:r>
              <a:rPr sz="3000" b="1">
                <a:solidFill>
                  <a:srgbClr val="C98A2E"/>
                </a:solidFill>
                <a:latin typeface="Calibri"/>
              </a:rPr>
              <a:t> còn dựa nhiều vào quan hệ cá nhân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4747107" cy="3200400"/>
          </a:xfrm>
          <a:prstGeom prst="roundRect">
            <a:avLst/>
          </a:prstGeom>
          <a:solidFill>
            <a:srgbClr val="FBF6EE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2899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C98A2E"/>
                </a:solidFill>
                <a:latin typeface="Calibri"/>
              </a:rPr>
              <a:t>HIỆN TẠI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50008"/>
            <a:ext cx="4289907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Kết nối chủ yếu qua gặp gỡ tại sự kiện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Chưa có nơi đăng nhu cầu hay chào năng lực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Hội chưa ghi nhận được giá trị giao thương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98A2E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Định hướng giao thương thiếu công cụ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0107" y="1783080"/>
            <a:ext cx="41148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04507" y="1783080"/>
            <a:ext cx="4747107" cy="320040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33107" y="1965960"/>
            <a:ext cx="42899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F9D6B"/>
                </a:solidFill>
                <a:latin typeface="Calibri"/>
              </a:rPr>
              <a:t>KHI CÓ NỀN TẢNG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3107" y="2350008"/>
            <a:ext cx="4289907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Sàn kết nối, tìm theo ngành &amp; nhu cầu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Đăng nhu cầu, gửi kết nối 1 chạm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Gợi ý đối tác phù hợp tự động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9D6B"/>
                </a:solidFill>
              </a:rPr>
              <a:t>▪  </a:t>
            </a:r>
            <a:r>
              <a:rPr sz="1250">
                <a:solidFill>
                  <a:srgbClr val="15273D"/>
                </a:solidFill>
              </a:rPr>
              <a:t>Ghi nhận kết nối &amp; câu chuyện thành công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GIẢI PHÁP 05 · MÔ PHỎNG GIAO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Sàn kết nối</a:t>
            </a:r>
            <a:r>
              <a:rPr sz="3000" b="1">
                <a:solidFill>
                  <a:srgbClr val="1C6FB8"/>
                </a:solidFill>
                <a:latin typeface="Calibri"/>
              </a:rPr>
              <a:t> Giao thương nội bộ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Bộ lọc theo ngành: F&amp;B, Bán lẻ, Logistics, Mỹ phẩm, Bất động sản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214 doanh nghiệp hội viên · 37 nhu cầu mở · 28 kết nối quý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743200"/>
          <a:ext cx="7772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Gợi ý kết nối thông minh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Mức khớp nhu cầu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An Phát (F&amp;B) ✕ Bao bì Minh Long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Mỹ phẩm Hạ ✕ Chuỗi bán lẻ Vy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Logistics P. ✕ An Phát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2920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“Qua sàn HAWEE, chúng tôi chốt hợp đồng phân phối trong 3 tuần.”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họa: bộ lọc ngành, thẻ doanh nghiệp, gợi ý thông minh, câu chuyện thành công.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KẾT QUẢ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Từ “hội networking” thành</a:t>
            </a:r>
            <a:r>
              <a:rPr sz="3000" b="1">
                <a:solidFill>
                  <a:srgbClr val="1C6FB8"/>
                </a:solidFill>
                <a:latin typeface="Calibri"/>
              </a:rPr>
              <a:t> nơi tạo ra cơ hội kinh doanh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39333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C6FB8"/>
                </a:solidFill>
                <a:latin typeface="Calibri"/>
              </a:rPr>
              <a:t>Mọi lúc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33933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kết nối không chờ tới kỳ sự kiện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99178" y="2103120"/>
            <a:ext cx="339333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F9D6B"/>
                </a:solidFill>
                <a:latin typeface="Calibri"/>
              </a:rPr>
              <a:t>Đo được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9178" y="2971800"/>
            <a:ext cx="33933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số kết nối &amp; giá trị giao thương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8276" y="2103120"/>
            <a:ext cx="339333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B7892F"/>
                </a:solidFill>
                <a:latin typeface="Calibri"/>
              </a:rPr>
              <a:t>Lý do ở lại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276" y="2971800"/>
            <a:ext cx="33933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hội viên thấy lợi ích kinh doanh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Khi hội viên tìm được đối tác và đơn hàng từ HAWEE, câu hỏi hội phí để làm gì tự có câu trả lời.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ĐIỂM NGHẼN 06 ›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Số hóa “viên ngọc”</a:t>
            </a:r>
            <a:r>
              <a:rPr sz="3000" b="1">
                <a:solidFill>
                  <a:srgbClr val="1C6FB8"/>
                </a:solidFill>
                <a:latin typeface="Calibri"/>
              </a:rPr>
              <a:t> HAWEE Mentoring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Hiện tại: ghép cặp, theo dõi 12 tháng, nhắc lịch còn thủ công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Giải pháp: ghép cặp theo ngành, theo dõi hành trình, nhắc lịch tự động, thu phản hồi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737360"/>
          <a:ext cx="512064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Mentor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Mentee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Ngành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Tiến độ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Nguyễn T. 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Lê M. Chi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F&amp;B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8/12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Trần B. Hà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Vũ K. Linh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Bán lẻ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3/12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65760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Mở rộng chương trình điểm mà không tăng tải vận hành cho Ban Mentoring.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module Mentoring · 48 cặp đang hoạt động, 92% buổi đúng lịch.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ĐIỂM NGHẼN 07 ›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Hồ sơ doanh nhân &amp;</a:t>
            </a:r>
            <a:r>
              <a:rPr sz="3000" b="1">
                <a:solidFill>
                  <a:srgbClr val="1C6FB8"/>
                </a:solidFill>
                <a:latin typeface="Calibri"/>
              </a:rPr>
              <a:t> thẻ hội viên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4008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Hội viên chưa có “danh thiếp số” để thể hiện năng lực &amp; tìm thấy nhau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Quyền lợi 4 hạng chưa hiển thị rõ ràng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Giải pháp: hồ sơ doanh nhân + thẻ số QR theo hạng + ưu đãi đối tác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657600" cy="3108960"/>
          </a:xfrm>
          <a:prstGeom prst="roundRect">
            <a:avLst/>
          </a:prstGeom>
          <a:solidFill>
            <a:srgbClr val="1D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26679" y="2194560"/>
            <a:ext cx="32004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1">
                <a:solidFill>
                  <a:srgbClr val="9EC7E8"/>
                </a:solidFill>
                <a:latin typeface="Calibri"/>
              </a:rPr>
              <a:t>HAWEE · HẠNG TỎA SÁNG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Nguyễn Thị An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CFDDED"/>
                </a:solidFill>
                <a:latin typeface="Calibri"/>
              </a:rPr>
              <a:t>CEO · An Phát F&amp;B · từ 2019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9EC7E8"/>
                </a:solidFill>
                <a:latin typeface="Calibri"/>
              </a:rPr>
              <a:t>[ QR ]  Quét để điểm danh &amp; mở quyền lợi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thẻ hội viên số theo 4 hạng.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ĐIỂM NGHẼN 08 (MỞ RỘNG) ›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90 ngày đầu</a:t>
            </a:r>
            <a:r>
              <a:rPr sz="3000" b="1">
                <a:solidFill>
                  <a:srgbClr val="1C6FB8"/>
                </a:solidFill>
                <a:latin typeface="Calibri"/>
              </a:rPr>
              <a:t> quyết định hội viên có gắn bó lâu dài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Hội viên mới không gắn kết sớm thì rất dễ rời tổ chức về sau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Hiện việc chào đón còn tùy hứng, chưa thành quy trình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Giải pháp: hành trình chào đón tự động 90 ngày, gợi ý sự kiện &amp; kết nối phù hợp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0"/>
            <a:ext cx="3216554" cy="164592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3803904"/>
            <a:ext cx="28873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NGÀY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114800"/>
            <a:ext cx="288737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Lời chào &amp; cẩm nang quyền lợi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681728"/>
            <a:ext cx="288737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Gửi qua Zalo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6362" y="3657600"/>
            <a:ext cx="41148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7570" y="3657600"/>
            <a:ext cx="3216554" cy="164592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2162" y="3803904"/>
            <a:ext cx="28873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TUẦN 2 ĐẾN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162" y="4114800"/>
            <a:ext cx="288737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Mời sự kiện đầu tiên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2162" y="4681728"/>
            <a:ext cx="288737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Gợi ý 3 hội viên nên kết nối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3852" y="3657600"/>
            <a:ext cx="41148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5060" y="3657600"/>
            <a:ext cx="3216554" cy="164592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99652" y="3803904"/>
            <a:ext cx="28873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NGÀY 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9652" y="4114800"/>
            <a:ext cx="288737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Điểm lại hành trình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9652" y="4681728"/>
            <a:ext cx="288737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Mời tham gia chuyên sâu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Cơ sở: hội viên không gắn kết trong 90 ngày đầu rời tổ chức nhiều hơn đáng kể.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ĐIỂM NGHẼN 09 (MỞ RỘNG) ›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Tích điểm</a:t>
            </a:r>
            <a:r>
              <a:rPr sz="3000" b="1">
                <a:solidFill>
                  <a:srgbClr val="1C6FB8"/>
                </a:solidFill>
                <a:latin typeface="Calibri"/>
              </a:rPr>
              <a:t> và vinh danh hội viên năng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49377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Dự sự kiện, làm mentor, giới thiệu hội viên mới, kết nối giao thương đều được cộng điểm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Hội nhìn rõ ai là hạt nhân năng động để ghi nhận &amp; mời dẫn dắt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Hạng hoạt động: Kim Cương, Vàng, Bạc, kèm quyền lợi &amp; vinh danh tại đại hội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0" y="1691640"/>
          <a:ext cx="56692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Hội viên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Đóng góp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Điểm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Lê Thanh Hà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Mentor · 9 sự kiện · 5 kết nối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3.120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Trần Mỹ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8 sự kiện · 4 giới thiệu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2.760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Nguyễn Thị 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Mentor · 7 sự kiện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2.480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Vũ Kim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6 sự kiện · 3 kết nối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2.050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Phạm Hoa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5 sự kiện · 2 giới thiệu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73D"/>
                          </a:solidFill>
                          <a:latin typeface="Calibri"/>
                        </a:rPr>
                        <a:t>1.890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hệ thống tích điểm &amp; bảng vinh danh hội viên năng động.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ĐIỂM NGHẼN 10 (MỞ RỘNG) ›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Gắn kết</a:t>
            </a:r>
            <a:r>
              <a:rPr sz="3000" b="1">
                <a:solidFill>
                  <a:srgbClr val="1C6FB8"/>
                </a:solidFill>
                <a:latin typeface="Calibri"/>
              </a:rPr>
              <a:t> cả chi hội &amp; ban chuyên môn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21906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CHI HỘI &amp; 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95728"/>
            <a:ext cx="21906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Trang riêng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80360"/>
            <a:ext cx="219067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CLB Phong cách, ban Mentoring, ban Giao thương: lịch, thành viên, hoạt động riêng.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5113" y="192024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26281" y="2103120"/>
            <a:ext cx="21906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NỘI 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6281" y="2395728"/>
            <a:ext cx="21906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Hub tập trung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6281" y="2880360"/>
            <a:ext cx="219067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Bản tin, gương mặt hội viên, thư viện tài liệu, đo lượt xem &amp; quan tâm.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6" y="192024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1314" y="2103120"/>
            <a:ext cx="21906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KHẢO SÁT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1314" y="2395728"/>
            <a:ext cx="21906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Lấy ý kiến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1314" y="2880360"/>
            <a:ext cx="219067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Khảo sát, biểu quyết, đo mức hài lòng theo từng nhóm.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5179" y="192024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96347" y="2103120"/>
            <a:ext cx="21906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TỔNG HỢP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347" y="2395728"/>
            <a:ext cx="21906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Một bức tranh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347" y="2880360"/>
            <a:ext cx="219067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Mọi hoạt động chi hội đổ về bảng điều hành chung của Hội.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Mỗi chi hội có không gian riêng, nhưng tất cả cùng một mái nhà dữ liệu.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9EC7E8"/>
                </a:solidFill>
                <a:latin typeface="Calibri"/>
              </a:rPr>
              <a:t>PHẦN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Tự động hóa, AI &amp;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CFDDED"/>
                </a:solidFill>
                <a:latin typeface="Calibri"/>
              </a:rPr>
              <a:t>Những trải nghiệm hội viên chạm vào mỗi ngày.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TRỤ CỘT TỰ ĐỘNG HÓA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Một hành trình chăm sóc</a:t>
            </a:r>
            <a:r>
              <a:rPr sz="3000" b="1">
                <a:solidFill>
                  <a:srgbClr val="1C6FB8"/>
                </a:solidFill>
                <a:latin typeface="Calibri"/>
              </a:rPr>
              <a:t> tự động qua Zalo &amp; email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254681" cy="18288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2249424"/>
            <a:ext cx="192549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GIA NHẬP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560320"/>
            <a:ext cx="192549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Chào đón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127248"/>
            <a:ext cx="192549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Onboarding &amp; cẩm nang quyền lợi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4489" y="2103120"/>
            <a:ext cx="41148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5697" y="2103120"/>
            <a:ext cx="2254681" cy="18288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90289" y="2249424"/>
            <a:ext cx="192549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TRONG KỲ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0289" y="2560320"/>
            <a:ext cx="192549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Gắn kết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0289" y="3127248"/>
            <a:ext cx="192549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Mời sự kiện đúng mối quan tâm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0106" y="2103120"/>
            <a:ext cx="41148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1314" y="2103120"/>
            <a:ext cx="2254681" cy="182880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5906" y="2249424"/>
            <a:ext cx="192549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TRƯỚC HẠN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5906" y="2560320"/>
            <a:ext cx="192549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Nhắc gia hạn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5906" y="3127248"/>
            <a:ext cx="192549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Tự động qua Zalo &amp;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5723" y="2103120"/>
            <a:ext cx="41148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6931" y="2103120"/>
            <a:ext cx="2254681" cy="182880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61523" y="2249424"/>
            <a:ext cx="192549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CẦN QUAN TÂM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1523" y="2560320"/>
            <a:ext cx="192549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Chăm sóc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1523" y="3127248"/>
            <a:ext cx="192549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Gợi ý BCH quan tâm kịp thời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Zalo là kênh người Việt mở tin nhiều &amp; tin tưởng nhất. Đây là lợi thế riêng của HAWEE.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Nguồn: Zalo có hơn 75 triệu người dùng/tháng tại Việt Nam (Adsota 2025).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TRỤ CỘT TRỢ LÝ ẢO · KHI CÓ HỘI VIÊN MỚI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Xác minh hội viên mới</a:t>
            </a:r>
            <a:r>
              <a:rPr sz="3000" b="1">
                <a:solidFill>
                  <a:srgbClr val="1C6FB8"/>
                </a:solidFill>
                <a:latin typeface="Calibri"/>
              </a:rPr>
              <a:t> bằng AI, duyệt nhanh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56692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Trường thông tin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tự tổng hợp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Doanh nghiệp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Công ty TNHH Mỹ phẩm Hạ Vy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Mã số thuế / Ngành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0312•••456 · Mỹ phẩm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Thành lập / Quy mô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2017 · 50 đến 100 nhân sự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Độ tin cậy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92% · 5 nguồn đối chiếu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Khớp tiêu chí hội viên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Đạt · đề xuất hạng Hội Tụ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1828800"/>
            <a:ext cx="50292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Thay vì tìm kiếm &amp; tổng hợp thủ công, AI lập sẵn báo cáo doanh nghiệp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Đối chiếu nhiều nguồn công khai: pháp nhân, ngành, quy mô, truyền thông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Ban Chấp hành chỉ xem &amp; bấm duyệt, rút ngắn thời gian kết nạp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Con người vẫn ra quyết định cuối cùng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họa. AI tổng hợp từ nguồn công khai; quyết định kết nạp thuộc Ban Chấp hành.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TRỤ CỘT TRỢ LÝ 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Trợ lý ảo</a:t>
            </a:r>
            <a:r>
              <a:rPr sz="3000" b="1">
                <a:solidFill>
                  <a:srgbClr val="1C6FB8"/>
                </a:solidFill>
                <a:latin typeface="Calibri"/>
              </a:rPr>
              <a:t> đồng hành cùng hội viên 24/7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6035040" cy="329184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55778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F2747"/>
                </a:solidFill>
                <a:latin typeface="Calibri"/>
              </a:rPr>
              <a:t>Hội viên: </a:t>
            </a:r>
            <a:r>
              <a:rPr sz="1200" b="0">
                <a:solidFill>
                  <a:srgbClr val="15273D"/>
                </a:solidFill>
                <a:latin typeface="Calibri"/>
              </a:rPr>
              <a:t>HAWEE Connect Q3 khi nào? Hạng Tỏa Sáng có vé miễn phí?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600" b="0">
                <a:solidFill>
                  <a:srgbClr val="15273D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Trợ lý HAWEE: </a:t>
            </a:r>
            <a:r>
              <a:rPr sz="1200" b="0">
                <a:solidFill>
                  <a:srgbClr val="15273D"/>
                </a:solidFill>
                <a:latin typeface="Calibri"/>
              </a:rPr>
              <a:t>18/07/2026, 18:00 tại KS Rex. Hạng Tỏa Sáng được vé miễn phí + bàn ưu tiên. Em giữ chỗ nhé?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600" b="0">
                <a:solidFill>
                  <a:srgbClr val="15273D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F2747"/>
                </a:solidFill>
                <a:latin typeface="Calibri"/>
              </a:rPr>
              <a:t>Hội viên: </a:t>
            </a:r>
            <a:r>
              <a:rPr sz="1200" b="0">
                <a:solidFill>
                  <a:srgbClr val="15273D"/>
                </a:solidFill>
                <a:latin typeface="Calibri"/>
              </a:rPr>
              <a:t>Giữ giúp mình. Cho xem hạn gia hạn luôn.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600" b="0">
                <a:solidFill>
                  <a:srgbClr val="15273D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Trợ lý HAWEE: </a:t>
            </a:r>
            <a:r>
              <a:rPr sz="1200" b="0">
                <a:solidFill>
                  <a:srgbClr val="15273D"/>
                </a:solidFill>
                <a:latin typeface="Calibri"/>
              </a:rPr>
              <a:t>Đã giữ chỗ. Quyền lợi làm mới 25/06/2026, em gửi liên kết qua Zalo nhé.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920240"/>
            <a:ext cx="45720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C6FB8"/>
                </a:solidFill>
              </a:rPr>
              <a:t>▪  </a:t>
            </a:r>
            <a:r>
              <a:rPr sz="1200" b="0">
                <a:solidFill>
                  <a:srgbClr val="15273D"/>
                </a:solidFill>
                <a:latin typeface="Calibri"/>
              </a:rPr>
              <a:t>Trả lời tức thì: sự kiện, quyền lợi theo hạng, hạn gia hạn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C6FB8"/>
                </a:solidFill>
              </a:rPr>
              <a:t>▪  </a:t>
            </a:r>
            <a:r>
              <a:rPr sz="1200" b="0">
                <a:solidFill>
                  <a:srgbClr val="15273D"/>
                </a:solidFill>
                <a:latin typeface="Calibri"/>
              </a:rPr>
              <a:t>Chuyển đúng người: Văn phòng Hội, Ban Giao thương, Mentoring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C6FB8"/>
                </a:solidFill>
              </a:rPr>
              <a:t>▪  </a:t>
            </a:r>
            <a:r>
              <a:rPr sz="1200" b="0">
                <a:solidFill>
                  <a:srgbClr val="15273D"/>
                </a:solidFill>
                <a:latin typeface="Calibri"/>
              </a:rPr>
              <a:t>Giảm tải hỏi đáp lặp lại cho Văn phòng Hội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C6FB8"/>
                </a:solidFill>
              </a:rPr>
              <a:t>▪  </a:t>
            </a:r>
            <a:r>
              <a:rPr sz="1200" b="0">
                <a:solidFill>
                  <a:srgbClr val="15273D"/>
                </a:solidFill>
                <a:latin typeface="Calibri"/>
              </a:rPr>
              <a:t>Định vị đúng: trợ lý &amp; điều hướng, không thay con người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hội thoại. Triển khai ở Giai đoạn 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CỘNG ĐỒNG &amp; BẢN TIN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Trang cộng đồng sôi nổi</a:t>
            </a:r>
            <a:r>
              <a:rPr sz="3000" b="1">
                <a:solidFill>
                  <a:srgbClr val="1C6FB8"/>
                </a:solidFill>
                <a:latin typeface="Calibri"/>
              </a:rPr>
              <a:t> và bản tin định kỳ tự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300" b="1">
                <a:solidFill>
                  <a:srgbClr val="1F9D6B"/>
                </a:solidFill>
                <a:latin typeface="Calibri"/>
              </a:rPr>
              <a:t>Có </a:t>
            </a:r>
            <a:r>
              <a:rPr sz="1300" b="0">
                <a:solidFill>
                  <a:srgbClr val="15273D"/>
                </a:solidFill>
                <a:latin typeface="Calibri"/>
              </a:rPr>
              <a:t>trang cộng đồng riêng: bảng tin, nhóm chi hội, gương mặt hội viên, hỏi đáp, tương tác (cảm xúc, bình luận, chia sẻ).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300" b="1">
                <a:solidFill>
                  <a:srgbClr val="1F9D6B"/>
                </a:solidFill>
                <a:latin typeface="Calibri"/>
              </a:rPr>
              <a:t>Có </a:t>
            </a:r>
            <a:r>
              <a:rPr sz="1300" b="0">
                <a:solidFill>
                  <a:srgbClr val="15273D"/>
                </a:solidFill>
                <a:latin typeface="Calibri"/>
              </a:rPr>
              <a:t>bản tin định kỳ tự động tổng hợp hoạt động cộng đồng, gửi hằng tháng qua email &amp; Zalo.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01752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Bản tin HAWEE · Tháng 7/2026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Nội dung tự tổng hợp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Sự kiện sắp tới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HAWEE Connect Q3 · 18/07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Gương mặt hội viên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Câu chuyện chị Nguyễn Thị An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Cơ hội giao thương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12 nhu cầu mới chờ kết nối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Hội viên mới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Chào mừng 8 hội viên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trang cộng đồng &amp; bản tin tự động.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BỘ MẶT ĐỐI NGOẠI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Website chính thức</a:t>
            </a:r>
            <a:r>
              <a:rPr sz="3000" b="1">
                <a:solidFill>
                  <a:srgbClr val="1C6FB8"/>
                </a:solidFill>
                <a:latin typeface="Calibri"/>
              </a:rPr>
              <a:t> sôi nổi như một cộng đồng sống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881360" cy="1920240"/>
          </a:xfrm>
          <a:prstGeom prst="roundRect">
            <a:avLst/>
          </a:prstGeom>
          <a:solidFill>
            <a:srgbClr val="1D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9EC7E8"/>
                </a:solidFill>
                <a:latin typeface="Calibri"/>
              </a:rPr>
              <a:t>● 18 hội viên đang trực tuyến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Hội tụ. Kết nối. Vươn tầm.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>
                <a:solidFill>
                  <a:srgbClr val="CFDDED"/>
                </a:solidFill>
                <a:latin typeface="Calibri"/>
              </a:rPr>
              <a:t>Cộng đồng nữ doanh nhân TP.HCM, nơi mỗi kết nối mở ra một cơ hội.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B7892F"/>
                </a:solidFill>
                <a:latin typeface="Calibri"/>
              </a:rPr>
              <a:t>[ Trở thành hội viên › ]   [ Khám phá cộng đồng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88136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Hero sống động, chip hội viên đang trực tuyến, cụm avatar hội viên (+500)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Hàng thẻ “Đang sôi nổi trong cộng đồng”: sự kiện, gương mặt hội viên, cơ hội giao thương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Ô đăng ký bản tin ngay trên trang chủ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C6FB8"/>
                </a:solidFill>
              </a:rPr>
              <a:t>▪  </a:t>
            </a:r>
            <a:r>
              <a:rPr sz="1250" b="0">
                <a:solidFill>
                  <a:srgbClr val="15273D"/>
                </a:solidFill>
                <a:latin typeface="Calibri"/>
              </a:rPr>
              <a:t>4 chỉ số nổi bật: 500+ hội viên, 200+ chương trình, 14.000+ lượt dự, 105 tỷ vì cộng đồng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trang chủ website đối ngoại sôi nổi của HAWEE.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SAU KHI CÓ WEBSITE · BÁO CÁO &amp; PHÂN TÍCH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Bảng điều hành</a:t>
            </a:r>
            <a:r>
              <a:rPr sz="3000" b="1">
                <a:solidFill>
                  <a:srgbClr val="1C6FB8"/>
                </a:solidFill>
                <a:latin typeface="Calibri"/>
              </a:rPr>
              <a:t> Báo cáo &amp; Phân tích chuyên sâu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91640"/>
          <a:ext cx="3657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434840" y="1691640"/>
          <a:ext cx="3657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0" y="1691640"/>
          <a:ext cx="32918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160520"/>
          <a:ext cx="10881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Phễu kết nạp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Cohort giữ chân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ngành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Quan tâm 240 › Đăng ký 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Theo tháng gia nhập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F&amp;B, Bán lẻ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AI xác minh 132 › Kết nạp 118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Đậm = giữ chân cao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273D"/>
                          </a:solidFill>
                          <a:latin typeface="Calibri"/>
                        </a:rPr>
                        <a:t>Mỹ phẩm, BĐS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họa: đường, cột chồng, tròn, phễu, cohort, xếp hạng. Lọc &amp; xuất báo cáo nhiều tình huống.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ĐÒN BẨY NGÂN SÁCH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Quản lý &amp;</a:t>
            </a:r>
            <a:r>
              <a:rPr sz="3000" b="1">
                <a:solidFill>
                  <a:srgbClr val="1C6FB8"/>
                </a:solidFill>
                <a:latin typeface="Calibri"/>
              </a:rPr>
              <a:t> đo hiệu quả tài trợ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5486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Quyền lợi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 kết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Thực hiện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Logo cổng sự kiện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Bài viết cộng đồng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Gian hàng giao thương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828800"/>
            <a:ext cx="512064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Theo dõi cam kết &amp; quyền lợi từng nhà tài trợ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Báo cáo tiếp cận &amp; khách quan tâm, nhà tài trợ thấy rõ hiệu quả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C6FB8"/>
                </a:solidFill>
              </a:rPr>
              <a:t>▪  </a:t>
            </a:r>
            <a:r>
              <a:rPr sz="1500" b="0">
                <a:solidFill>
                  <a:srgbClr val="15273D"/>
                </a:solidFill>
                <a:latin typeface="Calibri"/>
              </a:rPr>
              <a:t>Dễ tái ký &amp; nâng gói, tăng nguồn lực cho Hội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Tài trợ là nguồn lực quan trọng. Đo được hiệu quả là cách giữ &amp; mở rộng nguồn lực ấy.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Mô phỏng minh họa báo cáo tài trợ: 7 sự kiện, 2.100 lượt tiếp cận, 34 khách quan tâm.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9EC7E8"/>
                </a:solidFill>
                <a:latin typeface="Calibri"/>
              </a:rPr>
              <a:t>PHẦN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Tổng hợp &amp; lộ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CFDDED"/>
                </a:solidFill>
                <a:latin typeface="Calibri"/>
              </a:rPr>
              <a:t>Từ bức tranh tính năng đến kế hoạch có thể ra quyết định.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BẢN ĐỒ TÍNH NĂNG ĐẦY ĐỦ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Tất cả gói gọn trong</a:t>
            </a:r>
            <a:r>
              <a:rPr sz="3000" b="1">
                <a:solidFill>
                  <a:srgbClr val="1C6FB8"/>
                </a:solidFill>
                <a:latin typeface="Calibri"/>
              </a:rPr>
              <a:t> một nền tảng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84778" cy="27432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31190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NỀN MÓNG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04288"/>
            <a:ext cx="31190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Dữ liệu &amp; Hội viên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311901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Kho dữ liệu tập trung · Hồ sơ 360° · 4 hạng · Gia hạn tự động · Nhắc qua Zalo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828800"/>
            <a:ext cx="3484778" cy="27432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4626" y="2011680"/>
            <a:ext cx="31190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GIÁ TRỊ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4626" y="2304288"/>
            <a:ext cx="31190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Gắn kết &amp; Giao thương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4626" y="2788920"/>
            <a:ext cx="311901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Sự kiện + QR · Sàn giao thương · Mentoring · Tích điểm &amp; vinh danh · Cộng đồng · Thẻ số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828800"/>
            <a:ext cx="3484778" cy="274320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8004" y="2011680"/>
            <a:ext cx="31190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VƯƠN TẦM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8004" y="2304288"/>
            <a:ext cx="31190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Thông minh &amp; Mở rộng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788920"/>
            <a:ext cx="311901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Bảng điều hành · Chăm sóc sớm · Trợ lý ảo · Xác minh AI · Hiệu quả tài trợ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7 trụ cột HAWEE đề ra, cùng các tính năng mở rộng, trên một nền dữ liệu duy nhất.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LỘ TRÌNH TRIỂN KHAI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Làm chắc gốc trước,</a:t>
            </a:r>
            <a:r>
              <a:rPr sz="3000" b="1">
                <a:solidFill>
                  <a:srgbClr val="1C6FB8"/>
                </a:solidFill>
                <a:latin typeface="Calibri"/>
              </a:rPr>
              <a:t> không ôm tất cả cùng lúc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84778" cy="29260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31190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GIAI ĐOẠN 1 · NỀN TẢNG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04288"/>
            <a:ext cx="31190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Một nguồn duy nhất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311901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Website &amp; cổng hội viên · Kho dữ liệu &amp; Hồ sơ 360° · 4 hạng &amp; gia hạn tự động · Nhắc Zalo. › Thắng nhanh, đo được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828800"/>
            <a:ext cx="3484778" cy="29260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4626" y="2011680"/>
            <a:ext cx="31190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GIAI ĐOẠN 2 · GIÁ TRỊ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4626" y="2304288"/>
            <a:ext cx="31190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Kết nối tạo giá trị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4626" y="2788920"/>
            <a:ext cx="311901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Sự kiện + QR + cộng đồng · Sàn giao thương · Mentoring · Tích điểm &amp; vinh danh. › Gắn kết liên tục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828800"/>
            <a:ext cx="3484778" cy="29260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8004" y="2011680"/>
            <a:ext cx="31190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GIAI ĐOẠN 3 · VƯƠN TẦM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8004" y="2304288"/>
            <a:ext cx="31190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Dữ liệu dẫn dắt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788920"/>
            <a:ext cx="311901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Bảng điều hành &amp; chăm sóc sớm · Trợ lý ảo · Hiệu quả tài trợ · Ứng dụng &amp; Zalo Mini App. › Tăng giữ chân &amp; tài trợ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MA TRẬN TÍNH NĂNG THEO GIAI ĐOẠN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Cái gì làm</a:t>
            </a:r>
            <a:r>
              <a:rPr sz="3000" b="1">
                <a:solidFill>
                  <a:srgbClr val="1C6FB8"/>
                </a:solidFill>
                <a:latin typeface="Calibri"/>
              </a:rPr>
              <a:t> trước, cái gì làm sau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911535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7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7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7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Nhóm tính năng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GĐ 1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GĐ 2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GĐ 3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Kho dữ liệu &amp; Hồ sơ 360°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4 hạng &amp; gia hạn tự động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Nhắc qua Zalo &amp;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Sự kiện + QR + cộng đồng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Sàn giao thương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Mentoring &amp; Tích điểm vinh danh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Bảng điều hành &amp; chăm sóc sớm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Trợ lý ảo · Xác minh AI · Tài trợ · Ứng dụng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27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GIÁ TRỊ MANG LẠI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Mỗi bên đều</a:t>
            </a:r>
            <a:r>
              <a:rPr sz="3000" b="1">
                <a:solidFill>
                  <a:srgbClr val="1C6FB8"/>
                </a:solidFill>
                <a:latin typeface="Calibri"/>
              </a:rPr>
              <a:t> được lợi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21906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HỘI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04288"/>
            <a:ext cx="21906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Vững &amp; minh bạch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219067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Giữ chân tốt hơn, dữ liệu chứng minh giá trị, tăng tài trợ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5113" y="182880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26281" y="2011680"/>
            <a:ext cx="21906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HỘI VIÊN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6281" y="2304288"/>
            <a:ext cx="21906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Lợi ích thật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6281" y="2788920"/>
            <a:ext cx="219067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Tìm đúng đối tác, quyền lợi rõ ràng, ít thao tác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6" y="182880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1314" y="2011680"/>
            <a:ext cx="21906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BAN CHẤP HÀNH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1314" y="2304288"/>
            <a:ext cx="21906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Quyết định bằng số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1314" y="2788920"/>
            <a:ext cx="219067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Bảng điều hành thay cảm tính, hành động kịp thời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5179" y="1828800"/>
            <a:ext cx="2556433" cy="246888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96347" y="2011680"/>
            <a:ext cx="21906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ĐỐI TÁC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347" y="2304288"/>
            <a:ext cx="21906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Thấy hiệu quả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347" y="2788920"/>
            <a:ext cx="2190673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Dễ tái ký &amp; nâng gói tài trợ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Tầm nhìn của HAWEE đã rõ. Nền tảng này biến tầm nhìn ấy thành vận hành mỗi ngày.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VÌ SAO XÂY RIÊNG CHO HAWEE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Một tài sản số</a:t>
            </a:r>
            <a:r>
              <a:rPr sz="3000" b="1">
                <a:solidFill>
                  <a:srgbClr val="1C6FB8"/>
                </a:solidFill>
                <a:latin typeface="Calibri"/>
              </a:rPr>
              <a:t> thuộc về Hội, lớn lên cùng Hội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56433" cy="256032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21906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CHỦ QUYỀN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04288"/>
            <a:ext cx="21906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Dữ liệu của HAWEE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219067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Thông tin hội viên trong tầm kiểm soát của Hội, không phụ thuộc bên thứ ba.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5113" y="1828800"/>
            <a:ext cx="2556433" cy="256032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26281" y="2011680"/>
            <a:ext cx="21906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BẢN SẮC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6281" y="2304288"/>
            <a:ext cx="21906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May đo trọn vẹn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6281" y="2788920"/>
            <a:ext cx="219067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Đúng 4 hạng, đúng Mentoring, đúng định hướng giao thương.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6" y="1828800"/>
            <a:ext cx="2556433" cy="256032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1314" y="2011680"/>
            <a:ext cx="21906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NGƯỜI VIỆT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1314" y="2304288"/>
            <a:ext cx="21906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Gắn liền Zalo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1314" y="2788920"/>
            <a:ext cx="219067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Nhắc nhở &amp; chăm sóc qua Zalo, thanh toán nội địa quen thuộc.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5179" y="1828800"/>
            <a:ext cx="2556433" cy="256032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96347" y="2011680"/>
            <a:ext cx="21906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BỀN VỮNG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347" y="2304288"/>
            <a:ext cx="21906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F2747"/>
                </a:solidFill>
                <a:latin typeface="Calibri"/>
              </a:rPr>
              <a:t>Chi phí hợp lý dài hạn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347" y="2788920"/>
            <a:ext cx="219067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D6B7E"/>
                </a:solidFill>
                <a:latin typeface="Calibri"/>
              </a:rPr>
              <a:t>Đầu tư một lần &amp; bảo trì hợp lý, không tăng phí theo từng hội viên.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Với HAWEE, vận hành hội viên là lợi thế cần sở hữu, không phải thứ đi thuê.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C6FB8"/>
                </a:solidFill>
                <a:latin typeface="Calibri"/>
              </a:rPr>
              <a:t>LƯỜNG TRƯỚC ĐỂ ĐI CHẮC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Mọi rủi ro</a:t>
            </a:r>
            <a:r>
              <a:rPr sz="3000" b="1">
                <a:solidFill>
                  <a:srgbClr val="1C6FB8"/>
                </a:solidFill>
                <a:latin typeface="Calibri"/>
              </a:rPr>
              <a:t> đều có cách hóa giải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1153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Điều cần lưu tâm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Cách hóa giải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Hội viên bận, ngại công cụ mới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Giao diện tối giản, nhắc qua Zalo, không bắt học hệ thống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Dữ liệu nhạy cảm của nữ lãnh đạo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Hội sở hữu dữ liệu, phân quyền chặt, tuân thủ bảo vệ dữ liệu cá nhân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Lo làm xong rồi để đó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Bàn giao kèm quy trình vận hành &amp; người phụ trách cộng đồng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Triển khai lớn dễ rủi ro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Lộ trình 3 giai đoạn, Giai đoạn 1 nhỏ, chắc, đo được trước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Kỳ vọng trợ lý ảo quá cao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273D"/>
                          </a:solidFill>
                          <a:latin typeface="Calibri"/>
                        </a:rPr>
                        <a:t>Định vị đúng là trợ lý &amp; điều hướng, đặt kỳ vọng phù hợp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F9D6B"/>
                </a:solidFill>
                <a:latin typeface="Calibri"/>
              </a:rPr>
              <a:t>BƯỚC TIẾP THEO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0F2747"/>
                </a:solidFill>
                <a:latin typeface="Calibri"/>
              </a:rPr>
              <a:t>Khởi đầu</a:t>
            </a:r>
            <a:r>
              <a:rPr sz="3000" b="1">
                <a:solidFill>
                  <a:srgbClr val="1C6FB8"/>
                </a:solidFill>
                <a:latin typeface="Calibri"/>
              </a:rPr>
              <a:t> nhỏ, chắc, đo được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216554" cy="173736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2157984"/>
            <a:ext cx="28873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BƯỚC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68880"/>
            <a:ext cx="288737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Khảo sát nhu cầu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35808"/>
            <a:ext cx="288737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Trao đổi Văn phòng Hội &amp; hội viên, lấy số thực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6362" y="2011680"/>
            <a:ext cx="41148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7570" y="2011680"/>
            <a:ext cx="3216554" cy="1737360"/>
          </a:xfrm>
          <a:prstGeom prst="roundRect">
            <a:avLst/>
          </a:prstGeom>
          <a:solidFill>
            <a:srgbClr val="F5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2162" y="2157984"/>
            <a:ext cx="28873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BƯỚC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2162" y="2468880"/>
            <a:ext cx="288737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Chốt phạm vi Giai đoạn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162" y="3035808"/>
            <a:ext cx="288737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Tính năng nền tảng &amp; mốc thắng nhanh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3852" y="2011680"/>
            <a:ext cx="41148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400" b="1">
                <a:solidFill>
                  <a:srgbClr val="B7892F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5060" y="2011680"/>
            <a:ext cx="3216554" cy="1737360"/>
          </a:xfrm>
          <a:prstGeom prst="roundRect">
            <a:avLst/>
          </a:prstGeom>
          <a:solidFill>
            <a:srgbClr val="EEF8F3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99652" y="2157984"/>
            <a:ext cx="288737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C6FB8"/>
                </a:solidFill>
                <a:latin typeface="Calibri"/>
              </a:rPr>
              <a:t>BƯỚC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9652" y="2468880"/>
            <a:ext cx="288737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F2747"/>
                </a:solidFill>
                <a:latin typeface="Calibri"/>
              </a:rPr>
              <a:t>Lộ trình &amp; đồng hành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9652" y="3035808"/>
            <a:ext cx="288737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D6B7E"/>
                </a:solidFill>
                <a:latin typeface="Calibri"/>
              </a:rPr>
              <a:t>Kế hoạch 3 giai đoạn &amp; hợp tác dài hạn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80"/>
            <a:ext cx="54864" cy="822960"/>
          </a:xfrm>
          <a:prstGeom prst="roundRect">
            <a:avLst/>
          </a:prstGeom>
          <a:solidFill>
            <a:srgbClr val="B7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212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0F2747"/>
                </a:solidFill>
                <a:latin typeface="Calibri"/>
              </a:rPr>
              <a:t>HAWEE đã có tầm nhìn. Hãy bắt đầu từ Giai đoạn 1, để tầm nhìn ấy thành hiện thực mỗi ngày.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AA7B6"/>
                </a:solidFill>
                <a:latin typeface="Calibri"/>
              </a:rPr>
              <a:t>Có thể kèm bộ câu hỏi khảo sát nhu cầu hội viên &amp; Ban Chấp hành theo yêu cầu.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9EC7E8"/>
                </a:solidFill>
                <a:latin typeface="Calibri"/>
              </a:rPr>
              <a:t>HAWEE 2025 ĐẾN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Hội tụ. Kết nối.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Vươn tầm.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>
                <a:solidFill>
                  <a:srgbClr val="CFDDED"/>
                </a:solidFill>
                <a:latin typeface="Calibri"/>
              </a:rPr>
              <a:t>Một nền tảng xây riêng cho HAWEE, vận hành tầm nhìn ấy mỗi ngày.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577840"/>
            <a:ext cx="10515600" cy="12700"/>
          </a:xfrm>
          <a:prstGeom prst="roundRect">
            <a:avLst/>
          </a:prstGeom>
          <a:solidFill>
            <a:srgbClr val="395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FB6CE"/>
                </a:solidFill>
                <a:latin typeface="Calibri"/>
              </a:rPr>
              <a:t>HAWEE      Cảm ơn &amp; sẵn sàng trao đổi    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4943</Words>
  <Application>Microsoft Macintosh PowerPoint</Application>
  <PresentationFormat>Widescreen</PresentationFormat>
  <Paragraphs>646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Blue Coral</cp:lastModifiedBy>
  <cp:revision>3</cp:revision>
  <dcterms:created xsi:type="dcterms:W3CDTF">2013-01-27T09:14:16Z</dcterms:created>
  <dcterms:modified xsi:type="dcterms:W3CDTF">2026-05-19T03:04:02Z</dcterms:modified>
  <cp:category/>
</cp:coreProperties>
</file>
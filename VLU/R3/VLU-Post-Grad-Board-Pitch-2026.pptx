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463040"/>
            <a:ext cx="7955279" cy="914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Arial"/>
              </a:rPr>
              <a:t>VLU Post-Grad Board Pitch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2514600"/>
            <a:ext cx="7589520" cy="8229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Arial"/>
              </a:rPr>
              <a:t>Family Academy · Healthcare Leadership MBA · Lifelong Membership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5120640"/>
            <a:ext cx="5943600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</a:rPr>
              <a:t>Research by NA · 2026-05-21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4114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rial"/>
              </a:rPr>
              <a:t>VLU Post-Grad Research R3 · Research by 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28232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66666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046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A3A5C"/>
                </a:solidFill>
                <a:latin typeface="Arial"/>
              </a:rPr>
              <a:t>Executive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8046720" cy="27432"/>
          </a:xfrm>
          <a:prstGeom prst="rect">
            <a:avLst/>
          </a:prstGeom>
          <a:solidFill>
            <a:srgbClr val="D4A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28232"/>
            <a:ext cx="4114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rial"/>
              </a:rPr>
              <a:t>VLU Post-Grad Research R3 · Research by 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28232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66666"/>
                </a:solidFill>
                <a:latin typeface="Arial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7589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  <a:latin typeface="Arial"/>
              </a:defRPr>
            </a:pPr>
            <a:r>
              <a:t>Commit to triple-stack: Family Academy as wedge, Healthcare MBA as anchor, Membership as halo.</a:t>
            </a:r>
          </a:p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  <a:latin typeface="Arial"/>
              </a:defRPr>
            </a:pPr>
            <a:r>
              <a:t>Use $15k/$20k/$35k Family Academy pricing for Cohort 1, with $20k/$30k/$50k reserved for post-proof scale.</a:t>
            </a:r>
          </a:p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  <a:latin typeface="Arial"/>
              </a:defRPr>
            </a:pPr>
            <a:r>
              <a:t>Board ask: approve Y0 capability build with pre-sell gates, not a public launch promise.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046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A3A5C"/>
                </a:solidFill>
                <a:latin typeface="Arial"/>
              </a:rPr>
              <a:t>Why Now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8046720" cy="27432"/>
          </a:xfrm>
          <a:prstGeom prst="rect">
            <a:avLst/>
          </a:prstGeom>
          <a:solidFill>
            <a:srgbClr val="D4A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28232"/>
            <a:ext cx="4114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rial"/>
              </a:rPr>
              <a:t>VLU Post-Grad Research R3 · Research by 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28232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66666"/>
                </a:solidFill>
                <a:latin typeface="Arial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7589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  <a:latin typeface="Arial"/>
              </a:defRPr>
            </a:pPr>
            <a:r>
              <a:t>AI reduces the value of generic lectures; judgment, network and applied proof become premium.</a:t>
            </a:r>
          </a:p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  <a:latin typeface="Arial"/>
              </a:defRPr>
            </a:pPr>
            <a:r>
              <a:t>Vietnam post-grad demand is still protected demographically for 10-15 years.</a:t>
            </a:r>
          </a:p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  <a:latin typeface="Arial"/>
              </a:defRPr>
            </a:pPr>
            <a:r>
              <a:t>Family succession and healthcare management are urgent operating pains, not abstract education categories.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046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A3A5C"/>
                </a:solidFill>
                <a:latin typeface="Arial"/>
              </a:rPr>
              <a:t>Market Opportunity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8046720" cy="27432"/>
          </a:xfrm>
          <a:prstGeom prst="rect">
            <a:avLst/>
          </a:prstGeom>
          <a:solidFill>
            <a:srgbClr val="D4A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28232"/>
            <a:ext cx="4114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rial"/>
              </a:rPr>
              <a:t>VLU Post-Grad Research R3 · Research by 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28232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66666"/>
                </a:solidFill>
                <a:latin typeface="Arial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75895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  <a:latin typeface="Arial"/>
              </a:defRPr>
            </a:pPr>
            <a:r>
              <a:t>Family businesses need succession structures; VN has no dedicated master-grade program.</a:t>
            </a:r>
          </a:p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  <a:latin typeface="Arial"/>
              </a:defRPr>
            </a:pPr>
            <a:r>
              <a:t>Healthcare chains and pharma operators need managers who understand both clinical and business systems.</a:t>
            </a:r>
          </a:p>
          <a:p>
            <a:pPr>
              <a:spcAft>
                <a:spcPts val="700"/>
              </a:spcAft>
              <a:defRPr sz="1800">
                <a:solidFill>
                  <a:srgbClr val="1A1A1A"/>
                </a:solidFill>
                <a:latin typeface="Arial"/>
              </a:defRPr>
            </a:pPr>
            <a:r>
              <a:t>Mid-career learners want format flexibility without losing peer depth.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046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A3A5C"/>
                </a:solidFill>
                <a:latin typeface="Arial"/>
              </a:rPr>
              <a:t>Post-Grad Selling Strategy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8046720" cy="27432"/>
          </a:xfrm>
          <a:prstGeom prst="rect">
            <a:avLst/>
          </a:prstGeom>
          <a:solidFill>
            <a:srgbClr val="D4A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28232"/>
            <a:ext cx="4114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rial"/>
              </a:rPr>
              <a:t>VLU Post-Grad Research R3 · Research by 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28232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66666"/>
                </a:solidFill>
                <a:latin typeface="Arial"/>
              </a:rPr>
              <a:t>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25880"/>
          <a:ext cx="81381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2720"/>
                <a:gridCol w="2712720"/>
                <a:gridCol w="2712720"/>
              </a:tblGrid>
              <a:tr h="731520"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Sell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Use for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00">
                          <a:solidFill>
                            <a:srgbClr val="FFFFFF"/>
                          </a:solidFill>
                        </a:rPr>
                        <a:t>VLU proof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Career transition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Healthcare leadership moves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Capstone ROI + employer sponsorship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Career fast-track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Time-poor executives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12-month/6-day-month calendar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Global 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Premium signal and vocabulary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ASEAN immersion + visiting faculty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Local peer network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Family heirs and operators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Selective confidential cohort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Applied transformation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Anti-theory objection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>
                          <a:latin typeface="Arial"/>
                        </a:rPr>
                        <a:t>Family/hospital transformation project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046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A3A5C"/>
                </a:solidFill>
                <a:latin typeface="Arial"/>
              </a:rPr>
              <a:t>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78638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Arial"/>
              </a:rPr>
              <a:t>VLU should create Group 5 instead of fighting existing groups.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8046720" cy="27432"/>
          </a:xfrm>
          <a:prstGeom prst="rect">
            <a:avLst/>
          </a:prstGeom>
          <a:solidFill>
            <a:srgbClr val="D4A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4114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rial"/>
              </a:rPr>
              <a:t>VLU Post-Grad Research R3 · Research by 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28232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66666"/>
                </a:solidFill>
                <a:latin typeface="Arial"/>
              </a:rPr>
              <a:t>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325880"/>
          <a:ext cx="81381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4540"/>
                <a:gridCol w="2034540"/>
                <a:gridCol w="2034540"/>
                <a:gridCol w="2034540"/>
              </a:tblGrid>
              <a:tr h="731520"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Group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Players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Owned position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VLU response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800">
                          <a:latin typeface="Arial"/>
                        </a:rPr>
                        <a:t>Public prestige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Arial"/>
                        </a:rPr>
                        <a:t>UEH / NEU / FTU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Arial"/>
                        </a:rPr>
                        <a:t>Affordable degree + alumni scale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Arial"/>
                        </a:rPr>
                        <a:t>Do not price-fight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800">
                          <a:latin typeface="Arial"/>
                        </a:rPr>
                        <a:t>Foreign premium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Arial"/>
                        </a:rPr>
                        <a:t>RMIT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Arial"/>
                        </a:rPr>
                        <a:t>Australian credential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Arial"/>
                        </a:rPr>
                        <a:t>Out-specialize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800">
                          <a:latin typeface="Arial"/>
                        </a:rPr>
                        <a:t>Policy elite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Arial"/>
                        </a:rPr>
                        <a:t>Fulbright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Arial"/>
                        </a:rPr>
                        <a:t>Policy leadership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Arial"/>
                        </a:rPr>
                        <a:t>Avoid policy lane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800">
                          <a:latin typeface="Arial"/>
                        </a:rPr>
                        <a:t>Flexible private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Arial"/>
                        </a:rPr>
                        <a:t>FSB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Arial"/>
                        </a:rPr>
                        <a:t>Corporate convenience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Arial"/>
                        </a:rPr>
                        <a:t>Build deeper vertical proof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800">
                          <a:latin typeface="Arial"/>
                        </a:rPr>
                        <a:t>Group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Arial"/>
                        </a:rPr>
                        <a:t>VLU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Arial"/>
                        </a:rPr>
                        <a:t>Niche premium applied verticals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Arial"/>
                        </a:rPr>
                        <a:t>Own Family + Healthcare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046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A3A5C"/>
                </a:solidFill>
                <a:latin typeface="Arial"/>
              </a:rPr>
              <a:t>Lessons From 6 Markets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8046720" cy="27432"/>
          </a:xfrm>
          <a:prstGeom prst="rect">
            <a:avLst/>
          </a:prstGeom>
          <a:solidFill>
            <a:srgbClr val="D4A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28232"/>
            <a:ext cx="4114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rial"/>
              </a:rPr>
              <a:t>VLU Post-Grad Research R3 · Research by 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28232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66666"/>
                </a:solidFill>
                <a:latin typeface="Arial"/>
              </a:rPr>
              <a:t>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25880"/>
          <a:ext cx="81381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2720"/>
                <a:gridCol w="2712720"/>
                <a:gridCol w="2712720"/>
              </a:tblGrid>
              <a:tr h="627017"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Market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Steal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800">
                          <a:solidFill>
                            <a:srgbClr val="FFFFFF"/>
                          </a:solidFill>
                        </a:rPr>
                        <a:t>Do not copy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627017">
                <a:tc>
                  <a:txBody>
                    <a:bodyPr/>
                    <a:lstStyle/>
                    <a:p>
                      <a:r>
                        <a:rPr sz="800">
                          <a:latin typeface="Arial"/>
                        </a:rPr>
                        <a:t>China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Arial"/>
                        </a:rPr>
                        <a:t>Network-as-product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Arial"/>
                        </a:rPr>
                        <a:t>Billionaire/status claims without proof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r>
                        <a:rPr sz="800">
                          <a:latin typeface="Arial"/>
                        </a:rPr>
                        <a:t>Australia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Arial"/>
                        </a:rPr>
                        <a:t>Fast-track + capstone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Arial"/>
                        </a:rPr>
                        <a:t>PR-pathway revenue logic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r>
                        <a:rPr sz="800">
                          <a:latin typeface="Arial"/>
                        </a:rPr>
                        <a:t>India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Arial"/>
                        </a:rPr>
                        <a:t>SPJIMR 6-day/month; ISB one-year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Arial"/>
                        </a:rPr>
                        <a:t>Placement promise for Family Academy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r>
                        <a:rPr sz="800">
                          <a:latin typeface="Arial"/>
                        </a:rPr>
                        <a:t>Singapore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Arial"/>
                        </a:rPr>
                        <a:t>Brand stack discipline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Arial"/>
                        </a:rPr>
                        <a:t>Global mobility claims VLU cannot prove</a:t>
                      </a:r>
                    </a:p>
                  </a:txBody>
                  <a:tcPr/>
                </a:tc>
              </a:tr>
              <a:tr h="627017">
                <a:tc>
                  <a:txBody>
                    <a:bodyPr/>
                    <a:lstStyle/>
                    <a:p>
                      <a:r>
                        <a:rPr sz="800">
                          <a:latin typeface="Arial"/>
                        </a:rPr>
                        <a:t>Malaysia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Arial"/>
                        </a:rPr>
                        <a:t>Private mid-tier affordability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Arial"/>
                        </a:rPr>
                        <a:t>Online-only commodity MBA</a:t>
                      </a:r>
                    </a:p>
                  </a:txBody>
                  <a:tcPr/>
                </a:tc>
              </a:tr>
              <a:tr h="627018">
                <a:tc>
                  <a:txBody>
                    <a:bodyPr/>
                    <a:lstStyle/>
                    <a:p>
                      <a:r>
                        <a:rPr sz="800">
                          <a:latin typeface="Arial"/>
                        </a:rPr>
                        <a:t>Indonesia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Arial"/>
                        </a:rPr>
                        <a:t>Family business peer-market play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>
                          <a:latin typeface="Arial"/>
                        </a:rPr>
                        <a:t>Loose executive-ed without credential path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046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A3A5C"/>
                </a:solidFill>
                <a:latin typeface="Arial"/>
              </a:rPr>
              <a:t>The Triple-Stack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78638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Arial"/>
              </a:rPr>
              <a:t>Wedge + Anchor + Halo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8046720" cy="27432"/>
          </a:xfrm>
          <a:prstGeom prst="rect">
            <a:avLst/>
          </a:prstGeom>
          <a:solidFill>
            <a:srgbClr val="D4A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4114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rial"/>
              </a:rPr>
              <a:t>VLU Post-Grad Research R3 · Research by 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28232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66666"/>
                </a:solidFill>
                <a:latin typeface="Arial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74980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A1A1A"/>
                </a:solidFill>
                <a:latin typeface="Arial"/>
              </a:defRPr>
            </a:pPr>
            <a:r>
              <a:t>Family Academy builds distinct category ownership.</a:t>
            </a:r>
          </a:p>
          <a:p>
            <a:pPr>
              <a:spcAft>
                <a:spcPts val="700"/>
              </a:spcAft>
              <a:defRPr sz="1700">
                <a:solidFill>
                  <a:srgbClr val="1A1A1A"/>
                </a:solidFill>
                <a:latin typeface="Arial"/>
              </a:defRPr>
            </a:pPr>
            <a:r>
              <a:t>Healthcare MBA scales with VLU's real Y + Business + Design capability.</a:t>
            </a:r>
          </a:p>
          <a:p>
            <a:pPr>
              <a:spcAft>
                <a:spcPts val="700"/>
              </a:spcAft>
              <a:defRPr sz="1700">
                <a:solidFill>
                  <a:srgbClr val="1A1A1A"/>
                </a:solidFill>
                <a:latin typeface="Arial"/>
              </a:defRPr>
            </a:pPr>
            <a:r>
              <a:t>Membership compounds alumni, data and short-course revenue.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046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A3A5C"/>
                </a:solidFill>
                <a:latin typeface="Arial"/>
              </a:rPr>
              <a:t>Family Academy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78638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Arial"/>
              </a:rPr>
              <a:t>Primary wedge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8046720" cy="27432"/>
          </a:xfrm>
          <a:prstGeom prst="rect">
            <a:avLst/>
          </a:prstGeom>
          <a:solidFill>
            <a:srgbClr val="D4A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4114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rial"/>
              </a:rPr>
              <a:t>VLU Post-Grad Research R3 · Research by 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28232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66666"/>
                </a:solidFill>
                <a:latin typeface="Arial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74980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A1A1A"/>
                </a:solidFill>
                <a:latin typeface="Arial"/>
              </a:defRPr>
            </a:pPr>
            <a:r>
              <a:t>Target gen-2/3 successors and gen-1 sponsors.</a:t>
            </a:r>
          </a:p>
          <a:p>
            <a:pPr>
              <a:spcAft>
                <a:spcPts val="700"/>
              </a:spcAft>
              <a:defRPr sz="1700">
                <a:solidFill>
                  <a:srgbClr val="1A1A1A"/>
                </a:solidFill>
                <a:latin typeface="Arial"/>
              </a:defRPr>
            </a:pPr>
            <a:r>
              <a:t>15-month modular: 6 days/month, no placement service.</a:t>
            </a:r>
          </a:p>
          <a:p>
            <a:pPr>
              <a:spcAft>
                <a:spcPts val="700"/>
              </a:spcAft>
              <a:defRPr sz="1700">
                <a:solidFill>
                  <a:srgbClr val="1A1A1A"/>
                </a:solidFill>
                <a:latin typeface="Arial"/>
              </a:defRPr>
            </a:pPr>
            <a:r>
              <a:t>Capstone: Family Constitution + succession roadmap + growth initiative.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046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A3A5C"/>
                </a:solidFill>
                <a:latin typeface="Arial"/>
              </a:rPr>
              <a:t>Healthcare MBA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78638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Arial"/>
              </a:rPr>
              <a:t>Portfolio anchor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8046720" cy="27432"/>
          </a:xfrm>
          <a:prstGeom prst="rect">
            <a:avLst/>
          </a:prstGeom>
          <a:solidFill>
            <a:srgbClr val="D4A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4114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rial"/>
              </a:rPr>
              <a:t>VLU Post-Grad Research R3 · Research by 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28232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66666"/>
                </a:solidFill>
                <a:latin typeface="Arial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74980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A1A1A"/>
                </a:solidFill>
                <a:latin typeface="Arial"/>
              </a:defRPr>
            </a:pPr>
            <a:r>
              <a:t>12-month intensive + 3-month live-client capstone.</a:t>
            </a:r>
          </a:p>
          <a:p>
            <a:pPr>
              <a:spcAft>
                <a:spcPts val="700"/>
              </a:spcAft>
              <a:defRPr sz="1700">
                <a:solidFill>
                  <a:srgbClr val="1A1A1A"/>
                </a:solidFill>
                <a:latin typeface="Arial"/>
              </a:defRPr>
            </a:pPr>
            <a:r>
              <a:t>Hospital/pharma/MedTech cohort; $12k/$18k/$30k pricing.</a:t>
            </a:r>
          </a:p>
          <a:p>
            <a:pPr>
              <a:spcAft>
                <a:spcPts val="700"/>
              </a:spcAft>
              <a:defRPr sz="1700">
                <a:solidFill>
                  <a:srgbClr val="1A1A1A"/>
                </a:solidFill>
                <a:latin typeface="Arial"/>
              </a:defRPr>
            </a:pPr>
            <a:r>
              <a:t>Proof requires named partner projects, not generic cases.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046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A3A5C"/>
                </a:solidFill>
                <a:latin typeface="Arial"/>
              </a:rPr>
              <a:t>Lifelong Membership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78638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100" b="0">
                <a:solidFill>
                  <a:srgbClr val="666666"/>
                </a:solidFill>
                <a:latin typeface="Arial"/>
              </a:rPr>
              <a:t>Network halo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78992"/>
            <a:ext cx="8046720" cy="27432"/>
          </a:xfrm>
          <a:prstGeom prst="rect">
            <a:avLst/>
          </a:prstGeom>
          <a:solidFill>
            <a:srgbClr val="D4A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428232"/>
            <a:ext cx="4114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rial"/>
              </a:rPr>
              <a:t>VLU Post-Grad Research R3 · Research by 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6428232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66666"/>
                </a:solidFill>
                <a:latin typeface="Arial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17320"/>
            <a:ext cx="74980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A1A1A"/>
                </a:solidFill>
                <a:latin typeface="Arial"/>
              </a:defRPr>
            </a:pPr>
            <a:r>
              <a:t>Embed alumni access in tuition; upsell annual membership.</a:t>
            </a:r>
          </a:p>
          <a:p>
            <a:pPr>
              <a:spcAft>
                <a:spcPts val="700"/>
              </a:spcAft>
              <a:defRPr sz="1700">
                <a:solidFill>
                  <a:srgbClr val="1A1A1A"/>
                </a:solidFill>
                <a:latin typeface="Arial"/>
              </a:defRPr>
            </a:pPr>
            <a:r>
              <a:t>Use off-shelf AI tools first; custom platform only after demand proof.</a:t>
            </a:r>
          </a:p>
          <a:p>
            <a:pPr>
              <a:spcAft>
                <a:spcPts val="700"/>
              </a:spcAft>
              <a:defRPr sz="1700">
                <a:solidFill>
                  <a:srgbClr val="1A1A1A"/>
                </a:solidFill>
                <a:latin typeface="Arial"/>
              </a:defRPr>
            </a:pPr>
            <a:r>
              <a:t>Annual reports create data moat and acquisition engine.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046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A3A5C"/>
                </a:solidFill>
                <a:latin typeface="Arial"/>
              </a:rPr>
              <a:t>Family Academy Positioning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8046720" cy="27432"/>
          </a:xfrm>
          <a:prstGeom prst="rect">
            <a:avLst/>
          </a:prstGeom>
          <a:solidFill>
            <a:srgbClr val="D4A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28232"/>
            <a:ext cx="4114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rial"/>
              </a:rPr>
              <a:t>VLU Post-Grad Research R3 · Research by 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28232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66666"/>
                </a:solidFill>
                <a:latin typeface="Arial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74980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A1A1A"/>
                </a:solidFill>
                <a:latin typeface="Arial"/>
              </a:defRPr>
            </a:pPr>
            <a:r>
              <a:t>Vietnam's school of choice for family-business successors.</a:t>
            </a:r>
          </a:p>
          <a:p>
            <a:pPr>
              <a:spcAft>
                <a:spcPts val="700"/>
              </a:spcAft>
              <a:defRPr sz="1700">
                <a:solidFill>
                  <a:srgbClr val="1A1A1A"/>
                </a:solidFill>
                <a:latin typeface="Arial"/>
              </a:defRPr>
            </a:pPr>
            <a:r>
              <a:t>Buyer is often gen-1 founder; user is gen-2 heir.</a:t>
            </a:r>
          </a:p>
          <a:p>
            <a:pPr>
              <a:spcAft>
                <a:spcPts val="700"/>
              </a:spcAft>
              <a:defRPr sz="1700">
                <a:solidFill>
                  <a:srgbClr val="1A1A1A"/>
                </a:solidFill>
                <a:latin typeface="Arial"/>
              </a:defRPr>
            </a:pPr>
            <a:r>
              <a:t>Confidential peer cohort is the product, curriculum is the delivery system.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046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A3A5C"/>
                </a:solidFill>
                <a:latin typeface="Arial"/>
              </a:rPr>
              <a:t>Family Academy Format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8046720" cy="27432"/>
          </a:xfrm>
          <a:prstGeom prst="rect">
            <a:avLst/>
          </a:prstGeom>
          <a:solidFill>
            <a:srgbClr val="D4A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28232"/>
            <a:ext cx="4114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rial"/>
              </a:rPr>
              <a:t>VLU Post-Grad Research R3 · Research by 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28232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66666"/>
                </a:solidFill>
                <a:latin typeface="Arial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74980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A1A1A"/>
                </a:solidFill>
                <a:latin typeface="Arial"/>
              </a:defRPr>
            </a:pPr>
            <a:r>
              <a:t>6 days/month copied from SPJIMR logic.</a:t>
            </a:r>
          </a:p>
          <a:p>
            <a:pPr>
              <a:spcAft>
                <a:spcPts val="700"/>
              </a:spcAft>
              <a:defRPr sz="1700">
                <a:solidFill>
                  <a:srgbClr val="1A1A1A"/>
                </a:solidFill>
                <a:latin typeface="Arial"/>
              </a:defRPr>
            </a:pPr>
            <a:r>
              <a:t>15 months: 12 months modules + 3 months capstone/advisory.</a:t>
            </a:r>
          </a:p>
          <a:p>
            <a:pPr>
              <a:spcAft>
                <a:spcPts val="700"/>
              </a:spcAft>
              <a:defRPr sz="1700">
                <a:solidFill>
                  <a:srgbClr val="1A1A1A"/>
                </a:solidFill>
                <a:latin typeface="Arial"/>
              </a:defRPr>
            </a:pPr>
            <a:r>
              <a:t>Cohort 20-25 first year to protect intimacy and selection.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046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A3A5C"/>
                </a:solidFill>
                <a:latin typeface="Arial"/>
              </a:rPr>
              <a:t>Family Academy Pricing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8046720" cy="27432"/>
          </a:xfrm>
          <a:prstGeom prst="rect">
            <a:avLst/>
          </a:prstGeom>
          <a:solidFill>
            <a:srgbClr val="D4A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28232"/>
            <a:ext cx="4114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rial"/>
              </a:rPr>
              <a:t>VLU Post-Grad Research R3 · Research by 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28232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66666"/>
                </a:solidFill>
                <a:latin typeface="Arial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74980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A1A1A"/>
                </a:solidFill>
                <a:latin typeface="Arial"/>
              </a:defRPr>
            </a:pPr>
            <a:r>
              <a:t>Mary's lean: $15k Good, $20k Better, $35k Best.</a:t>
            </a:r>
          </a:p>
          <a:p>
            <a:pPr>
              <a:spcAft>
                <a:spcPts val="700"/>
              </a:spcAft>
              <a:defRPr sz="1700">
                <a:solidFill>
                  <a:srgbClr val="1A1A1A"/>
                </a:solidFill>
                <a:latin typeface="Arial"/>
              </a:defRPr>
            </a:pPr>
            <a:r>
              <a:t>Original $12k entry risks weak premium signal.</a:t>
            </a:r>
          </a:p>
          <a:p>
            <a:pPr>
              <a:spcAft>
                <a:spcPts val="700"/>
              </a:spcAft>
              <a:defRPr sz="1700">
                <a:solidFill>
                  <a:srgbClr val="1A1A1A"/>
                </a:solidFill>
                <a:latin typeface="Arial"/>
              </a:defRPr>
            </a:pPr>
            <a:r>
              <a:t>Parity $20k/$30k/$50k only after Cohort 2 proof and advisory board credibility.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046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A3A5C"/>
                </a:solidFill>
                <a:latin typeface="Arial"/>
              </a:rPr>
              <a:t>Family Academy Financials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8046720" cy="27432"/>
          </a:xfrm>
          <a:prstGeom prst="rect">
            <a:avLst/>
          </a:prstGeom>
          <a:solidFill>
            <a:srgbClr val="D4A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28232"/>
            <a:ext cx="4114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rial"/>
              </a:rPr>
              <a:t>VLU Post-Grad Research R3 · Research by 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28232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66666"/>
                </a:solidFill>
                <a:latin typeface="Arial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74980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A1A1A"/>
                </a:solidFill>
                <a:latin typeface="Arial"/>
              </a:defRPr>
            </a:pPr>
            <a:r>
              <a:t>Y1 revenue: $330k; Y3 revenue: $1.5M.</a:t>
            </a:r>
          </a:p>
          <a:p>
            <a:pPr>
              <a:spcAft>
                <a:spcPts val="700"/>
              </a:spcAft>
              <a:defRPr sz="1700">
                <a:solidFill>
                  <a:srgbClr val="1A1A1A"/>
                </a:solidFill>
                <a:latin typeface="Arial"/>
              </a:defRPr>
            </a:pPr>
            <a:r>
              <a:t>Y0 budget should be gate-based: legal, director, advisory board, pre-sell.</a:t>
            </a:r>
          </a:p>
          <a:p>
            <a:pPr>
              <a:spcAft>
                <a:spcPts val="700"/>
              </a:spcAft>
              <a:defRPr sz="1700">
                <a:solidFill>
                  <a:srgbClr val="1A1A1A"/>
                </a:solidFill>
                <a:latin typeface="Arial"/>
              </a:defRPr>
            </a:pPr>
            <a:r>
              <a:t>Breakout depends on annual State of VN Family Business report.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046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A3A5C"/>
                </a:solidFill>
                <a:latin typeface="Arial"/>
              </a:rPr>
              <a:t>Family Academy 12-Month Rollout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8046720" cy="27432"/>
          </a:xfrm>
          <a:prstGeom prst="rect">
            <a:avLst/>
          </a:prstGeom>
          <a:solidFill>
            <a:srgbClr val="D4A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28232"/>
            <a:ext cx="4114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rial"/>
              </a:rPr>
              <a:t>VLU Post-Grad Research R3 · Research by 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28232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66666"/>
                </a:solidFill>
                <a:latin typeface="Arial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74980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A1A1A"/>
                </a:solidFill>
                <a:latin typeface="Arial"/>
              </a:defRPr>
            </a:pPr>
            <a:r>
              <a:t>M1-M3: capability/legal audit + founder dinners.</a:t>
            </a:r>
          </a:p>
          <a:p>
            <a:pPr>
              <a:spcAft>
                <a:spcPts val="700"/>
              </a:spcAft>
              <a:defRPr sz="1700">
                <a:solidFill>
                  <a:srgbClr val="1A1A1A"/>
                </a:solidFill>
                <a:latin typeface="Arial"/>
              </a:defRPr>
            </a:pPr>
            <a:r>
              <a:t>M4-M6: pricing test, director, curriculum.</a:t>
            </a:r>
          </a:p>
          <a:p>
            <a:pPr>
              <a:spcAft>
                <a:spcPts val="700"/>
              </a:spcAft>
              <a:defRPr sz="1700">
                <a:solidFill>
                  <a:srgbClr val="1A1A1A"/>
                </a:solidFill>
                <a:latin typeface="Arial"/>
              </a:defRPr>
            </a:pPr>
            <a:r>
              <a:t>M7-M12: recruit, partner, publish, Board launch checkpoint.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046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A3A5C"/>
                </a:solidFill>
                <a:latin typeface="Arial"/>
              </a:rPr>
              <a:t>Healthcare MBA Positioning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8046720" cy="27432"/>
          </a:xfrm>
          <a:prstGeom prst="rect">
            <a:avLst/>
          </a:prstGeom>
          <a:solidFill>
            <a:srgbClr val="D4A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28232"/>
            <a:ext cx="4114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rial"/>
              </a:rPr>
              <a:t>VLU Post-Grad Research R3 · Research by 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28232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66666"/>
                </a:solidFill>
                <a:latin typeface="Arial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74980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A1A1A"/>
                </a:solidFill>
                <a:latin typeface="Arial"/>
              </a:defRPr>
            </a:pPr>
            <a:r>
              <a:t>Not a generic MBA with healthcare electives.</a:t>
            </a:r>
          </a:p>
          <a:p>
            <a:pPr>
              <a:spcAft>
                <a:spcPts val="700"/>
              </a:spcAft>
              <a:defRPr sz="1700">
                <a:solidFill>
                  <a:srgbClr val="1A1A1A"/>
                </a:solidFill>
                <a:latin typeface="Arial"/>
              </a:defRPr>
            </a:pPr>
            <a:r>
              <a:t>A management program for people operating hospitals, pharma, MedTech and insurance.</a:t>
            </a:r>
          </a:p>
          <a:p>
            <a:pPr>
              <a:spcAft>
                <a:spcPts val="700"/>
              </a:spcAft>
              <a:defRPr sz="1700">
                <a:solidFill>
                  <a:srgbClr val="1A1A1A"/>
                </a:solidFill>
                <a:latin typeface="Arial"/>
              </a:defRPr>
            </a:pPr>
            <a:r>
              <a:t>VLU's Y + Business + Design combination is the capability moat.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046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A3A5C"/>
                </a:solidFill>
                <a:latin typeface="Arial"/>
              </a:rPr>
              <a:t>Healthcare MBA Format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8046720" cy="27432"/>
          </a:xfrm>
          <a:prstGeom prst="rect">
            <a:avLst/>
          </a:prstGeom>
          <a:solidFill>
            <a:srgbClr val="D4A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28232"/>
            <a:ext cx="4114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rial"/>
              </a:rPr>
              <a:t>VLU Post-Grad Research R3 · Research by 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28232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66666"/>
                </a:solidFill>
                <a:latin typeface="Arial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74980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A1A1A"/>
                </a:solidFill>
                <a:latin typeface="Arial"/>
              </a:defRPr>
            </a:pPr>
            <a:r>
              <a:t>12-month fast-track plus 3-month capstone beats 18-month friction.</a:t>
            </a:r>
          </a:p>
          <a:p>
            <a:pPr>
              <a:spcAft>
                <a:spcPts val="700"/>
              </a:spcAft>
              <a:defRPr sz="1700">
                <a:solidFill>
                  <a:srgbClr val="1A1A1A"/>
                </a:solidFill>
                <a:latin typeface="Arial"/>
              </a:defRPr>
            </a:pPr>
            <a:r>
              <a:t>65% VLU campus, 35% hospital/partner site.</a:t>
            </a:r>
          </a:p>
          <a:p>
            <a:pPr>
              <a:spcAft>
                <a:spcPts val="700"/>
              </a:spcAft>
              <a:defRPr sz="1700">
                <a:solidFill>
                  <a:srgbClr val="1A1A1A"/>
                </a:solidFill>
                <a:latin typeface="Arial"/>
              </a:defRPr>
            </a:pPr>
            <a:r>
              <a:t>Faculty mix: 40% academic, 60% practitioner.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046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A3A5C"/>
                </a:solidFill>
                <a:latin typeface="Arial"/>
              </a:rPr>
              <a:t>Healthcare MBA Financials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8046720" cy="27432"/>
          </a:xfrm>
          <a:prstGeom prst="rect">
            <a:avLst/>
          </a:prstGeom>
          <a:solidFill>
            <a:srgbClr val="D4A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28232"/>
            <a:ext cx="4114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rial"/>
              </a:rPr>
              <a:t>VLU Post-Grad Research R3 · Research by 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28232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66666"/>
                </a:solidFill>
                <a:latin typeface="Arial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74980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A1A1A"/>
                </a:solidFill>
                <a:latin typeface="Arial"/>
              </a:defRPr>
            </a:pPr>
            <a:r>
              <a:t>Y1 revenue: $450k; Y3 revenue: $2.04M.</a:t>
            </a:r>
          </a:p>
          <a:p>
            <a:pPr>
              <a:spcAft>
                <a:spcPts val="700"/>
              </a:spcAft>
              <a:defRPr sz="1700">
                <a:solidFill>
                  <a:srgbClr val="1A1A1A"/>
                </a:solidFill>
                <a:latin typeface="Arial"/>
              </a:defRPr>
            </a:pPr>
            <a:r>
              <a:t>Needs 8 partner LOIs before launch.</a:t>
            </a:r>
          </a:p>
          <a:p>
            <a:pPr>
              <a:spcAft>
                <a:spcPts val="700"/>
              </a:spcAft>
              <a:defRPr sz="1700">
                <a:solidFill>
                  <a:srgbClr val="1A1A1A"/>
                </a:solidFill>
                <a:latin typeface="Arial"/>
              </a:defRPr>
            </a:pPr>
            <a:r>
              <a:t>Capstone outcomes become the placement-equivalent proof point.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046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A3A5C"/>
                </a:solidFill>
                <a:latin typeface="Arial"/>
              </a:rPr>
              <a:t>Defensibility Framework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8046720" cy="27432"/>
          </a:xfrm>
          <a:prstGeom prst="rect">
            <a:avLst/>
          </a:prstGeom>
          <a:solidFill>
            <a:srgbClr val="D4A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28232"/>
            <a:ext cx="4114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rial"/>
              </a:rPr>
              <a:t>VLU Post-Grad Research R3 · Research by 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28232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66666"/>
                </a:solidFill>
                <a:latin typeface="Arial"/>
              </a:rPr>
              <a:t>20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25880"/>
          <a:ext cx="81381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62594"/>
                <a:gridCol w="1162594"/>
                <a:gridCol w="1162594"/>
                <a:gridCol w="1162594"/>
                <a:gridCol w="1162594"/>
                <a:gridCol w="1162594"/>
                <a:gridCol w="1162596"/>
              </a:tblGrid>
              <a:tr h="109728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Program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Network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Capability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Switching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Brand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Data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r>
                        <a:rPr sz="1100">
                          <a:latin typeface="Arial"/>
                        </a:rPr>
                        <a:t>Family Academy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Arial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Arial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Arial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Arial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Arial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Arial"/>
                        </a:rPr>
                        <a:t>22/25</a:t>
                      </a:r>
                    </a:p>
                  </a:txBody>
                  <a:tcPr/>
                </a:tc>
              </a:tr>
              <a:tr h="1097280">
                <a:tc>
                  <a:txBody>
                    <a:bodyPr/>
                    <a:lstStyle/>
                    <a:p>
                      <a:r>
                        <a:rPr sz="1100">
                          <a:latin typeface="Arial"/>
                        </a:rPr>
                        <a:t>Healthcare 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Arial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Arial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Arial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Arial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Arial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Arial"/>
                        </a:rPr>
                        <a:t>21/25</a:t>
                      </a:r>
                    </a:p>
                  </a:txBody>
                  <a:tcPr/>
                </a:tc>
              </a:tr>
              <a:tr h="1097280">
                <a:tc>
                  <a:txBody>
                    <a:bodyPr/>
                    <a:lstStyle/>
                    <a:p>
                      <a:r>
                        <a:rPr sz="1100">
                          <a:latin typeface="Arial"/>
                        </a:rPr>
                        <a:t>Membership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Arial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Arial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Arial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Arial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Arial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Arial"/>
                        </a:rPr>
                        <a:t>19/25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046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A3A5C"/>
                </a:solidFill>
                <a:latin typeface="Arial"/>
              </a:rPr>
              <a:t>3-Year P&amp;L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8046720" cy="27432"/>
          </a:xfrm>
          <a:prstGeom prst="rect">
            <a:avLst/>
          </a:prstGeom>
          <a:solidFill>
            <a:srgbClr val="D4A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28232"/>
            <a:ext cx="4114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rial"/>
              </a:rPr>
              <a:t>VLU Post-Grad Research R3 · Research by 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28232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66666"/>
                </a:solidFill>
                <a:latin typeface="Arial"/>
              </a:rPr>
              <a:t>21</a:t>
            </a:r>
          </a:p>
        </p:txBody>
      </p:sp>
      <p:pic>
        <p:nvPicPr>
          <p:cNvPr id="6" name="Picture 5" descr="triple_stack_re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25880"/>
            <a:ext cx="7498079" cy="4165599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046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A3A5C"/>
                </a:solidFill>
                <a:latin typeface="Arial"/>
              </a:rPr>
              <a:t>Pricing Recommendation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8046720" cy="27432"/>
          </a:xfrm>
          <a:prstGeom prst="rect">
            <a:avLst/>
          </a:prstGeom>
          <a:solidFill>
            <a:srgbClr val="D4A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28232"/>
            <a:ext cx="4114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rial"/>
              </a:rPr>
              <a:t>VLU Post-Grad Research R3 · Research by 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28232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66666"/>
                </a:solidFill>
                <a:latin typeface="Arial"/>
              </a:rPr>
              <a:t>22</a:t>
            </a:r>
          </a:p>
        </p:txBody>
      </p:sp>
      <p:pic>
        <p:nvPicPr>
          <p:cNvPr id="6" name="Picture 5" descr="pricing_scenar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325880"/>
            <a:ext cx="7498079" cy="4165599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046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A3A5C"/>
                </a:solidFill>
                <a:latin typeface="Arial"/>
              </a:rPr>
              <a:t>Risks + Mitigations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8046720" cy="27432"/>
          </a:xfrm>
          <a:prstGeom prst="rect">
            <a:avLst/>
          </a:prstGeom>
          <a:solidFill>
            <a:srgbClr val="D4A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28232"/>
            <a:ext cx="4114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rial"/>
              </a:rPr>
              <a:t>VLU Post-Grad Research R3 · Research by 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28232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66666"/>
                </a:solidFill>
                <a:latin typeface="Arial"/>
              </a:rPr>
              <a:t>23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25880"/>
          <a:ext cx="81381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9080"/>
                <a:gridCol w="4069080"/>
              </a:tblGrid>
              <a:tr h="877824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Risk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FFFFF"/>
                          </a:solidFill>
                        </a:rPr>
                        <a:t>Mitigation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Demand not payment-ready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10-deposit pre-sell gate before public launch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No credible director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External hire or interim advisory chair before launch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Weak capstone supply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Named partner LOIs with project owners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Regulatory delay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latin typeface="Arial"/>
                        </a:rPr>
                        <a:t>Certificate/executive bridge while degree approval matures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046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A3A5C"/>
                </a:solidFill>
                <a:latin typeface="Arial"/>
              </a:rPr>
              <a:t>12-Month Execution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8046720" cy="27432"/>
          </a:xfrm>
          <a:prstGeom prst="rect">
            <a:avLst/>
          </a:prstGeom>
          <a:solidFill>
            <a:srgbClr val="D4A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28232"/>
            <a:ext cx="4114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rial"/>
              </a:rPr>
              <a:t>VLU Post-Grad Research R3 · Research by 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28232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66666"/>
                </a:solidFill>
                <a:latin typeface="Arial"/>
              </a:rPr>
              <a:t>24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325880"/>
          <a:ext cx="813816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2720"/>
                <a:gridCol w="2712720"/>
                <a:gridCol w="2712720"/>
              </a:tblGrid>
              <a:tr h="877824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Phase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Months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</a:rPr>
                        <a:t>Output</a:t>
                      </a:r>
                    </a:p>
                  </a:txBody>
                  <a:tcPr>
                    <a:solidFill>
                      <a:srgbClr val="1A3A5C"/>
                    </a:solidFill>
                  </a:tcPr>
                </a:tc>
              </a:tr>
              <a:tr h="877824">
                <a:tc>
                  <a:txBody>
                    <a:bodyPr/>
                    <a:lstStyle/>
                    <a:p>
                      <a:r>
                        <a:rPr sz="1100">
                          <a:latin typeface="Arial"/>
                        </a:rPr>
                        <a:t>Foundation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Arial"/>
                        </a:rPr>
                        <a:t>M1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Arial"/>
                        </a:rPr>
                        <a:t>Capability audit, legal path, target list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r>
                        <a:rPr sz="1100">
                          <a:latin typeface="Arial"/>
                        </a:rPr>
                        <a:t>Validation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Arial"/>
                        </a:rPr>
                        <a:t>M2-M4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Arial"/>
                        </a:rPr>
                        <a:t>Founder dinners, hospital LOIs, pricing test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r>
                        <a:rPr sz="1100">
                          <a:latin typeface="Arial"/>
                        </a:rPr>
                        <a:t>Build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Arial"/>
                        </a:rPr>
                        <a:t>M5-M7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Arial"/>
                        </a:rPr>
                        <a:t>Director, curriculum, faculty, report outline</a:t>
                      </a:r>
                    </a:p>
                  </a:txBody>
                  <a:tcPr/>
                </a:tc>
              </a:tr>
              <a:tr h="877824">
                <a:tc>
                  <a:txBody>
                    <a:bodyPr/>
                    <a:lstStyle/>
                    <a:p>
                      <a:r>
                        <a:rPr sz="1100">
                          <a:latin typeface="Arial"/>
                        </a:rPr>
                        <a:t>Launch readiness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Arial"/>
                        </a:rPr>
                        <a:t>M8-M12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latin typeface="Arial"/>
                        </a:rPr>
                        <a:t>Admissions funnel, capstone briefs, Board checkpoint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046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A3A5C"/>
                </a:solidFill>
                <a:latin typeface="Arial"/>
              </a:rPr>
              <a:t>Investment Ask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8046720" cy="27432"/>
          </a:xfrm>
          <a:prstGeom prst="rect">
            <a:avLst/>
          </a:prstGeom>
          <a:solidFill>
            <a:srgbClr val="D4A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28232"/>
            <a:ext cx="4114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rial"/>
              </a:rPr>
              <a:t>VLU Post-Grad Research R3 · Research by 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28232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66666"/>
                </a:solidFill>
                <a:latin typeface="Arial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554480"/>
            <a:ext cx="7498079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500" b="1">
                <a:solidFill>
                  <a:srgbClr val="E63946"/>
                </a:solidFill>
                <a:latin typeface="Arial"/>
              </a:rPr>
              <a:t>Approve Y0 capability build, not blind full launch.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60320"/>
            <a:ext cx="6858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A1A1A"/>
                </a:solidFill>
                <a:latin typeface="Arial"/>
              </a:defRPr>
            </a:pPr>
            <a:r>
              <a:t>Gross Y0 envelope: $150k for director, legal, research center, partner BD.</a:t>
            </a:r>
          </a:p>
          <a:p>
            <a:pPr>
              <a:spcAft>
                <a:spcPts val="700"/>
              </a:spcAft>
              <a:defRPr sz="1700">
                <a:solidFill>
                  <a:srgbClr val="1A1A1A"/>
                </a:solidFill>
                <a:latin typeface="Arial"/>
              </a:defRPr>
            </a:pPr>
            <a:r>
              <a:t>Required gates: 10 Family Academy deposits/LOIs, 8 healthcare capstone LOIs, advisory board chair.</a:t>
            </a:r>
          </a:p>
          <a:p>
            <a:pPr>
              <a:spcAft>
                <a:spcPts val="700"/>
              </a:spcAft>
              <a:defRPr sz="1700">
                <a:solidFill>
                  <a:srgbClr val="1A1A1A"/>
                </a:solidFill>
                <a:latin typeface="Arial"/>
              </a:defRPr>
            </a:pPr>
            <a:r>
              <a:t>Decision required: commit VLU to Group 5 niche premium applied verticals.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046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A3A5C"/>
                </a:solidFill>
                <a:latin typeface="Arial"/>
              </a:rPr>
              <a:t>Appendix: 6-Layer Matrix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8046720" cy="27432"/>
          </a:xfrm>
          <a:prstGeom prst="rect">
            <a:avLst/>
          </a:prstGeom>
          <a:solidFill>
            <a:srgbClr val="D4A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28232"/>
            <a:ext cx="4114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rial"/>
              </a:rPr>
              <a:t>VLU Post-Grad Research R3 · Research by 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28232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66666"/>
                </a:solidFill>
                <a:latin typeface="Arial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74980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A1A1A"/>
                </a:solidFill>
                <a:latin typeface="Arial"/>
              </a:defRPr>
            </a:pPr>
            <a:r>
              <a:t>Excel workbook contains 36-program catalog and heat map.</a:t>
            </a:r>
          </a:p>
          <a:p>
            <a:pPr>
              <a:spcAft>
                <a:spcPts val="700"/>
              </a:spcAft>
              <a:defRPr sz="1700">
                <a:solidFill>
                  <a:srgbClr val="1A1A1A"/>
                </a:solidFill>
                <a:latin typeface="Arial"/>
              </a:defRPr>
            </a:pPr>
            <a:r>
              <a:t>R2 raw files remain source of full China/Australia/India/Singapore detail.</a:t>
            </a:r>
          </a:p>
          <a:p>
            <a:pPr>
              <a:spcAft>
                <a:spcPts val="700"/>
              </a:spcAft>
              <a:defRPr sz="1700">
                <a:solidFill>
                  <a:srgbClr val="1A1A1A"/>
                </a:solidFill>
                <a:latin typeface="Arial"/>
              </a:defRPr>
            </a:pPr>
            <a:r>
              <a:t>R3 adds Malaysia/Indonesia and VN competitors.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046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A3A5C"/>
                </a:solidFill>
                <a:latin typeface="Arial"/>
              </a:rPr>
              <a:t>Appendix: Steal-List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8046720" cy="27432"/>
          </a:xfrm>
          <a:prstGeom prst="rect">
            <a:avLst/>
          </a:prstGeom>
          <a:solidFill>
            <a:srgbClr val="D4A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28232"/>
            <a:ext cx="4114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rial"/>
              </a:rPr>
              <a:t>VLU Post-Grad Research R3 · Research by 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28232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66666"/>
                </a:solidFill>
                <a:latin typeface="Arial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74980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A1A1A"/>
                </a:solidFill>
                <a:latin typeface="Arial"/>
              </a:defRPr>
            </a:pPr>
            <a:r>
              <a:t>SPJIMR modular 6-day/month format.</a:t>
            </a:r>
          </a:p>
          <a:p>
            <a:pPr>
              <a:spcAft>
                <a:spcPts val="700"/>
              </a:spcAft>
              <a:defRPr sz="1700">
                <a:solidFill>
                  <a:srgbClr val="1A1A1A"/>
                </a:solidFill>
                <a:latin typeface="Arial"/>
              </a:defRPr>
            </a:pPr>
            <a:r>
              <a:t>ISB/IIM one-year fast-track economics.</a:t>
            </a:r>
          </a:p>
          <a:p>
            <a:pPr>
              <a:spcAft>
                <a:spcPts val="700"/>
              </a:spcAft>
              <a:defRPr sz="1700">
                <a:solidFill>
                  <a:srgbClr val="1A1A1A"/>
                </a:solidFill>
                <a:latin typeface="Arial"/>
              </a:defRPr>
            </a:pPr>
            <a:r>
              <a:t>Research center as publishing engine.</a:t>
            </a:r>
          </a:p>
          <a:p>
            <a:pPr>
              <a:spcAft>
                <a:spcPts val="700"/>
              </a:spcAft>
              <a:defRPr sz="1700">
                <a:solidFill>
                  <a:srgbClr val="1A1A1A"/>
                </a:solidFill>
                <a:latin typeface="Arial"/>
              </a:defRPr>
            </a:pPr>
            <a:r>
              <a:t>Named live-client capstone as moat.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D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8046720" cy="502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400" b="1">
                <a:solidFill>
                  <a:srgbClr val="1A3A5C"/>
                </a:solidFill>
                <a:latin typeface="Arial"/>
              </a:rPr>
              <a:t>Appendix: 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078992"/>
            <a:ext cx="8046720" cy="27432"/>
          </a:xfrm>
          <a:prstGeom prst="rect">
            <a:avLst/>
          </a:prstGeom>
          <a:solidFill>
            <a:srgbClr val="D4A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428232"/>
            <a:ext cx="41148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800" b="0">
                <a:solidFill>
                  <a:srgbClr val="666666"/>
                </a:solidFill>
                <a:latin typeface="Arial"/>
              </a:rPr>
              <a:t>VLU Post-Grad Research R3 · Research by 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28232"/>
            <a:ext cx="64008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800" b="0">
                <a:solidFill>
                  <a:srgbClr val="666666"/>
                </a:solidFill>
                <a:latin typeface="Arial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17320"/>
            <a:ext cx="749807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1A1A1A"/>
                </a:solidFill>
                <a:latin typeface="Arial"/>
              </a:defRPr>
            </a:pPr>
            <a:r>
              <a:t>Official program pages and tuition pages are listed in Excel and HTML.</a:t>
            </a:r>
          </a:p>
          <a:p>
            <a:pPr>
              <a:spcAft>
                <a:spcPts val="700"/>
              </a:spcAft>
              <a:defRPr sz="1700">
                <a:solidFill>
                  <a:srgbClr val="1A1A1A"/>
                </a:solidFill>
                <a:latin typeface="Arial"/>
              </a:defRPr>
            </a:pPr>
            <a:r>
              <a:t>Regulatory sources include MOET Circular 23/2021, Circular 07/2025, Decree 219/2025.</a:t>
            </a:r>
          </a:p>
          <a:p>
            <a:pPr>
              <a:spcAft>
                <a:spcPts val="700"/>
              </a:spcAft>
              <a:defRPr sz="1700">
                <a:solidFill>
                  <a:srgbClr val="1A1A1A"/>
                </a:solidFill>
                <a:latin typeface="Arial"/>
              </a:defRPr>
            </a:pPr>
            <a:r>
              <a:t>AACSB process and fees from official AACSB pages.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